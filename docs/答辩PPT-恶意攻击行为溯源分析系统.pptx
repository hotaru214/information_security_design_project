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234440"/>
            <a:ext cx="2011680" cy="5080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1732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284C7"/>
                </a:solidFill>
                <a:latin typeface="Microsoft YaHei"/>
              </a:rPr>
              <a:t>网络空间安全课程设计 · 题3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20240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1">
                <a:solidFill>
                  <a:srgbClr val="1E293B"/>
                </a:solidFill>
                <a:latin typeface="Microsoft YaHei"/>
              </a:rPr>
              <a:t>基于主机日志、主机行为、网络流量的</a:t>
            </a:r>
          </a:p>
          <a:p>
            <a:pPr algn="l">
              <a:lnSpc>
                <a:spcPct val="135000"/>
              </a:lnSpc>
            </a:pPr>
            <a:r>
              <a:rPr sz="3400" b="1">
                <a:solidFill>
                  <a:srgbClr val="1E293B"/>
                </a:solidFill>
                <a:latin typeface="Microsoft YaHei"/>
              </a:rPr>
              <a:t>恶意攻击行为溯源分析系统设计与实现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61188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64748B"/>
                </a:solidFill>
                <a:latin typeface="Microsoft YaHei"/>
              </a:rPr>
              <a:t>多源数据采集与融合 · ATT&amp;CK 攻击链溯源 · LLM 分析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3434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284C7"/>
                </a:solidFill>
                <a:latin typeface="Microsoft YaHei"/>
              </a:rPr>
              <a:t>小组成员与分工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892040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E293B"/>
                </a:solidFill>
                <a:latin typeface="Microsoft YaHei"/>
              </a:rPr>
              <a:t>成员A —— 后端 / 数据库 / 契约集成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4892040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E293B"/>
                </a:solidFill>
                <a:latin typeface="Microsoft YaHei"/>
              </a:rPr>
              <a:t>成员B —— 主机日志解析（EVTX/Sysmon/auditd）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303520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E293B"/>
                </a:solidFill>
                <a:latin typeface="Microsoft YaHei"/>
              </a:rPr>
              <a:t>成员C —— 网络流量解析（PCAP/Zeek/filterlog）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5303520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E293B"/>
                </a:solidFill>
                <a:latin typeface="Microsoft YaHei"/>
              </a:rPr>
              <a:t>成员D —— 关联分析 / 攻击链 / 归因画像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715000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E293B"/>
                </a:solidFill>
                <a:latin typeface="Microsoft YaHei"/>
              </a:rPr>
              <a:t>成员E —— 靶场构建 / 攻击执行 / 数据交付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5715000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E293B"/>
                </a:solidFill>
                <a:latin typeface="Microsoft YaHei"/>
              </a:rPr>
              <a:t>成员F —— 前端可视化 / LLM 分析报告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640080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Microsoft YaHei"/>
              </a:rPr>
              <a:t>仓库：information_security_design_project · 全部数字为平台实测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3657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1E293B"/>
                </a:solidFill>
                <a:latin typeface="Microsoft YaHei"/>
              </a:rPr>
              <a:t>目 录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00200"/>
            <a:ext cx="1463040" cy="38100"/>
          </a:xfrm>
          <a:prstGeom prst="rect">
            <a:avLst/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822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0284C7"/>
                </a:solidFill>
                <a:latin typeface="Microsoft YaHei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74520" y="2157984"/>
            <a:ext cx="4206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E293B"/>
                </a:solidFill>
                <a:latin typeface="Microsoft YaHei"/>
              </a:rPr>
              <a:t>项目背景与任务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103120"/>
            <a:ext cx="822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0284C7"/>
                </a:solidFill>
                <a:latin typeface="Microsoft YaHei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78040" y="2157984"/>
            <a:ext cx="4206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E293B"/>
                </a:solidFill>
                <a:latin typeface="Microsoft YaHei"/>
              </a:rPr>
              <a:t>系统总体设计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63239"/>
            <a:ext cx="822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0284C7"/>
                </a:solidFill>
                <a:latin typeface="Microsoft YaHei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20" y="3118103"/>
            <a:ext cx="4206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E293B"/>
                </a:solidFill>
                <a:latin typeface="Microsoft YaHei"/>
              </a:rPr>
              <a:t>核心模块实现（B/C/D）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3063239"/>
            <a:ext cx="822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0284C7"/>
                </a:solidFill>
                <a:latin typeface="Microsoft YaHei"/>
              </a:rPr>
              <a:t>04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78040" y="3118103"/>
            <a:ext cx="4206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E293B"/>
                </a:solidFill>
                <a:latin typeface="Microsoft YaHei"/>
              </a:rPr>
              <a:t>靶场构建与实测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023360"/>
            <a:ext cx="822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0284C7"/>
                </a:solidFill>
                <a:latin typeface="Microsoft YaHei"/>
              </a:rPr>
              <a:t>05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20" y="4078224"/>
            <a:ext cx="4206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E293B"/>
                </a:solidFill>
                <a:latin typeface="Microsoft YaHei"/>
              </a:rPr>
              <a:t>公开数据集实验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4023360"/>
            <a:ext cx="822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0284C7"/>
                </a:solidFill>
                <a:latin typeface="Microsoft YaHei"/>
              </a:rPr>
              <a:t>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78040" y="4078224"/>
            <a:ext cx="4206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E293B"/>
                </a:solidFill>
                <a:latin typeface="Microsoft YaHei"/>
              </a:rPr>
              <a:t>前端与 LLM 分析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4983480"/>
            <a:ext cx="822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0284C7"/>
                </a:solidFill>
                <a:latin typeface="Microsoft YaHei"/>
              </a:rPr>
              <a:t>07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20" y="5038344"/>
            <a:ext cx="4206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E293B"/>
                </a:solidFill>
                <a:latin typeface="Microsoft YaHei"/>
              </a:rPr>
              <a:t>平台成果与开源对比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4983480"/>
            <a:ext cx="822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0284C7"/>
                </a:solidFill>
                <a:latin typeface="Microsoft YaHei"/>
              </a:rPr>
              <a:t>08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78040" y="5038344"/>
            <a:ext cx="4206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E293B"/>
                </a:solidFill>
                <a:latin typeface="Microsoft YaHei"/>
              </a:rPr>
              <a:t>总结与展望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914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284C7"/>
                </a:solidFill>
                <a:latin typeface="Microsoft YaHei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E293B"/>
                </a:solidFill>
                <a:latin typeface="Microsoft YaHei"/>
              </a:rPr>
              <a:t>项目背景与任务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82296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4748B"/>
                </a:solidFill>
                <a:latin typeface="Microsoft YaHei"/>
              </a:rPr>
              <a:t>题目：基于主机日志、主机行为、网络流量的恶意攻击行为溯源分析系统设计与实现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152144"/>
            <a:ext cx="11338560" cy="31750"/>
          </a:xfrm>
          <a:prstGeom prst="rect">
            <a:avLst/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98480" y="649224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4748B"/>
                </a:solidFill>
                <a:latin typeface="Microsoft YaHei"/>
              </a:rPr>
              <a:t>题3 · 溯源分析系统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600200"/>
            <a:ext cx="548640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764792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284C7"/>
                </a:solidFill>
                <a:latin typeface="Microsoft YaHei"/>
              </a:rPr>
              <a:t>日志分散 · 格式异构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313432"/>
            <a:ext cx="51206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64748B"/>
                </a:solidFill>
                <a:latin typeface="Microsoft YaHei"/>
              </a:rPr>
              <a:t>EVTX / Sysmon / auditd / Zeek / 防火墙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64748B"/>
                </a:solidFill>
                <a:latin typeface="Microsoft YaHei"/>
              </a:rPr>
              <a:t>格式时钟各不同，人工翻查如大海捞针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26480" y="1600200"/>
            <a:ext cx="548640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5080" y="1764792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284C7"/>
                </a:solidFill>
                <a:latin typeface="Microsoft YaHei"/>
              </a:rPr>
              <a:t>单源视角盲区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5080" y="2313432"/>
            <a:ext cx="51206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64748B"/>
                </a:solidFill>
                <a:latin typeface="Microsoft YaHei"/>
              </a:rPr>
              <a:t>只看流量不知主机行为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64748B"/>
                </a:solidFill>
                <a:latin typeface="Microsoft YaHei"/>
              </a:rPr>
              <a:t>只看主机不知攻击者来去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3566160"/>
            <a:ext cx="548640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730752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284C7"/>
                </a:solidFill>
                <a:latin typeface="Microsoft YaHei"/>
              </a:rPr>
              <a:t>攻击链路难还原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279392"/>
            <a:ext cx="51206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64748B"/>
                </a:solidFill>
                <a:latin typeface="Microsoft YaHei"/>
              </a:rPr>
              <a:t>入侵 → 落地 → 提权 → 横向 → C2 → 外传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64748B"/>
                </a:solidFill>
                <a:latin typeface="Microsoft YaHei"/>
              </a:rPr>
              <a:t>跨源路径无法人工串联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3566160"/>
            <a:ext cx="548640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55080" y="3730752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284C7"/>
                </a:solidFill>
                <a:latin typeface="Microsoft YaHei"/>
              </a:rPr>
              <a:t>溯源取证难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5080" y="4279392"/>
            <a:ext cx="51206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64748B"/>
                </a:solidFill>
                <a:latin typeface="Microsoft YaHei"/>
              </a:rPr>
              <a:t>证据散落无结构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64748B"/>
                </a:solidFill>
                <a:latin typeface="Microsoft YaHei"/>
              </a:rPr>
              <a:t>难以支撑溯源结论与处置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" y="571500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E293B"/>
                </a:solidFill>
                <a:latin typeface="Microsoft YaHei"/>
              </a:rPr>
              <a:t>任务书要求：多源数据采集融合 + 大模型多智能体协调，≥8 节点靶场完成完整入侵链验证。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914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284C7"/>
                </a:solidFill>
                <a:latin typeface="Microsoft YaHei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E293B"/>
                </a:solidFill>
                <a:latin typeface="Microsoft YaHei"/>
              </a:rPr>
              <a:t>系统总体架构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82296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4748B"/>
                </a:solidFill>
                <a:latin typeface="Microsoft YaHei"/>
              </a:rPr>
              <a:t>一次攻击事件 = 一个 case_id = 全部证据（主机+网络+防火墙 同批入库）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152144"/>
            <a:ext cx="11338560" cy="31750"/>
          </a:xfrm>
          <a:prstGeom prst="rect">
            <a:avLst/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98480" y="649224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4748B"/>
                </a:solidFill>
                <a:latin typeface="Microsoft YaHei"/>
              </a:rPr>
              <a:t>题3 · 溯源分析系统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691640"/>
            <a:ext cx="2112264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874519"/>
            <a:ext cx="187451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7C3AED"/>
                </a:solidFill>
                <a:latin typeface="Microsoft YaHei"/>
              </a:rPr>
              <a:t>E 靶场 / 数据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423160"/>
            <a:ext cx="1874519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64748B"/>
                </a:solidFill>
                <a:latin typeface="Microsoft YaHei"/>
              </a:rPr>
              <a:t>9 节点三段式</a:t>
            </a:r>
          </a:p>
          <a:p>
            <a:pPr algn="l">
              <a:lnSpc>
                <a:spcPct val="115000"/>
              </a:lnSpc>
            </a:pPr>
            <a:r>
              <a:rPr sz="1250" b="0">
                <a:solidFill>
                  <a:srgbClr val="64748B"/>
                </a:solidFill>
                <a:latin typeface="Microsoft YaHei"/>
              </a:rPr>
              <a:t>4 抓包点+防火墙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24912" y="1691640"/>
            <a:ext cx="2112264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62072" y="1874519"/>
            <a:ext cx="187451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284C7"/>
                </a:solidFill>
                <a:latin typeface="Microsoft YaHei"/>
              </a:rPr>
              <a:t>B 主机日志解析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62072" y="2423160"/>
            <a:ext cx="1874519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64748B"/>
                </a:solidFill>
                <a:latin typeface="Microsoft YaHei"/>
              </a:rPr>
              <a:t>EVTX / Sysmon / auditd</a:t>
            </a:r>
          </a:p>
          <a:p>
            <a:pPr algn="l">
              <a:lnSpc>
                <a:spcPct val="115000"/>
              </a:lnSpc>
            </a:pPr>
            <a:r>
              <a:rPr sz="1250" b="0">
                <a:solidFill>
                  <a:srgbClr val="64748B"/>
                </a:solidFill>
                <a:latin typeface="Microsoft YaHei"/>
              </a:rPr>
              <a:t>33 种事件类型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38344" y="1691640"/>
            <a:ext cx="2112264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75504" y="1874519"/>
            <a:ext cx="187451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59669"/>
                </a:solidFill>
                <a:latin typeface="Microsoft YaHei"/>
              </a:rPr>
              <a:t>C 网络流量解析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75504" y="2423160"/>
            <a:ext cx="1874519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64748B"/>
                </a:solidFill>
                <a:latin typeface="Microsoft YaHei"/>
              </a:rPr>
              <a:t>PCAP / Zeek / filterlog</a:t>
            </a:r>
          </a:p>
          <a:p>
            <a:pPr algn="l">
              <a:lnSpc>
                <a:spcPct val="115000"/>
              </a:lnSpc>
            </a:pPr>
            <a:r>
              <a:rPr sz="1250" b="0">
                <a:solidFill>
                  <a:srgbClr val="64748B"/>
                </a:solidFill>
                <a:latin typeface="Microsoft YaHei"/>
              </a:rPr>
              <a:t>10 检测器→ATT&amp;CK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51775" y="1691640"/>
            <a:ext cx="2112264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88935" y="1874519"/>
            <a:ext cx="187451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D97706"/>
                </a:solidFill>
                <a:latin typeface="Microsoft YaHei"/>
              </a:rPr>
              <a:t>A 后端 + 契约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88935" y="2423160"/>
            <a:ext cx="1874519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64748B"/>
                </a:solidFill>
                <a:latin typeface="Microsoft YaHei"/>
              </a:rPr>
              <a:t>FastAPI + SQLite</a:t>
            </a:r>
          </a:p>
          <a:p>
            <a:pPr algn="l">
              <a:lnSpc>
                <a:spcPct val="115000"/>
              </a:lnSpc>
            </a:pPr>
            <a:r>
              <a:rPr sz="1250" b="0">
                <a:solidFill>
                  <a:srgbClr val="64748B"/>
                </a:solidFill>
                <a:latin typeface="Microsoft YaHei"/>
              </a:rPr>
              <a:t>Event V2 · 19 字段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665208" y="1691640"/>
            <a:ext cx="2112264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802368" y="1874519"/>
            <a:ext cx="187451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DC2626"/>
                </a:solidFill>
                <a:latin typeface="Microsoft YaHei"/>
              </a:rPr>
              <a:t>D 关联分析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02368" y="2423160"/>
            <a:ext cx="1874519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64748B"/>
                </a:solidFill>
                <a:latin typeface="Microsoft YaHei"/>
              </a:rPr>
              <a:t>9 阶段 · 12 技术</a:t>
            </a:r>
          </a:p>
          <a:p>
            <a:pPr algn="l">
              <a:lnSpc>
                <a:spcPct val="115000"/>
              </a:lnSpc>
            </a:pPr>
            <a:r>
              <a:rPr sz="1250" b="0">
                <a:solidFill>
                  <a:srgbClr val="64748B"/>
                </a:solidFill>
                <a:latin typeface="Microsoft YaHei"/>
              </a:rPr>
              <a:t>攻击图 + 归因画像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560320" y="2423160"/>
            <a:ext cx="128016" cy="38100"/>
          </a:xfrm>
          <a:prstGeom prst="rect">
            <a:avLst/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873752" y="2423160"/>
            <a:ext cx="128016" cy="38100"/>
          </a:xfrm>
          <a:prstGeom prst="rect">
            <a:avLst/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187184" y="2423160"/>
            <a:ext cx="128016" cy="38100"/>
          </a:xfrm>
          <a:prstGeom prst="rect">
            <a:avLst/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500616" y="2423160"/>
            <a:ext cx="128016" cy="38100"/>
          </a:xfrm>
          <a:prstGeom prst="rect">
            <a:avLst/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1480" y="3886200"/>
            <a:ext cx="11338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293B"/>
                </a:solidFill>
                <a:latin typeface="Microsoft YaHei"/>
              </a:rPr>
              <a:t>统一契约 Event V2 贯穿全链 —— F 前端 5 页面与 LLM 分析消费同一契约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1480" y="4434840"/>
            <a:ext cx="11338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4748B"/>
                </a:solidFill>
                <a:latin typeface="Microsoft YaHei"/>
              </a:rPr>
              <a:t>Dashboard · 攻击时间线 · 攻击链 · 分析报告 · 数据管理 ｜ LLM 优先 + 规则降级，永远 200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1480" y="51206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E293B"/>
                </a:solidFill>
                <a:latin typeface="Microsoft YaHei"/>
              </a:rPr>
              <a:t>技术栈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1480" y="5532120"/>
            <a:ext cx="112471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4748B"/>
                </a:solidFill>
                <a:latin typeface="Microsoft YaHei"/>
              </a:rPr>
              <a:t>Python 3.13 · FastAPI · SQLite · scapy · python-evtx · ECharts · Electron · LLM（DeepSeek/千问/GLM 可换）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64748B"/>
                </a:solidFill>
                <a:latin typeface="Microsoft YaHei"/>
              </a:rPr>
              <a:t>203 个自动化测试 · 三层契约守卫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914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284C7"/>
                </a:solidFill>
                <a:latin typeface="Microsoft YaHei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E293B"/>
                </a:solidFill>
                <a:latin typeface="Microsoft YaHei"/>
              </a:rPr>
              <a:t>Event V2 FINAL —— 全组统一数据契约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82296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4748B"/>
                </a:solidFill>
                <a:latin typeface="Microsoft YaHei"/>
              </a:rPr>
              <a:t>6 人并行开发的基石：B/C 产出、D/F 消费，全是同一份数据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152144"/>
            <a:ext cx="11338560" cy="31750"/>
          </a:xfrm>
          <a:prstGeom prst="rect">
            <a:avLst/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98480" y="649224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4748B"/>
                </a:solidFill>
                <a:latin typeface="Microsoft YaHei"/>
              </a:rPr>
              <a:t>题3 · 溯源分析系统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371600"/>
            <a:ext cx="557784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50876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284C7"/>
                </a:solidFill>
                <a:latin typeface="Microsoft YaHei"/>
              </a:rPr>
              <a:t>19 个公共字段（核心 9 个）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965960"/>
            <a:ext cx="5212080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E293B"/>
                </a:solidFill>
                <a:latin typeface="Consolas"/>
              </a:rPr>
              <a:t>timestamp · host · source · source_event_id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1E293B"/>
                </a:solidFill>
                <a:latin typeface="Consolas"/>
              </a:rPr>
              <a:t>event_type · src_ip · dst_ip · severity · detail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1E293B"/>
                </a:solidFill>
                <a:latin typeface="Consolas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1E293B"/>
                </a:solidFill>
                <a:latin typeface="Consolas"/>
              </a:rPr>
              <a:t>缺失即 null，禁用 unknown / 空串 / 0 占位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1E293B"/>
                </a:solidFill>
                <a:latin typeface="Consolas"/>
              </a:rPr>
              <a:t>source 8 枚举：evtx/sysmon/auth/audit/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1E293B"/>
                </a:solidFill>
                <a:latin typeface="Consolas"/>
              </a:rPr>
              <a:t>pcap/zeek/firewall/waf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4389120"/>
            <a:ext cx="557784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452628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284C7"/>
                </a:solidFill>
                <a:latin typeface="Microsoft YaHei"/>
              </a:rPr>
              <a:t>批次与守卫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983480"/>
            <a:ext cx="5212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E293B"/>
                </a:solidFill>
                <a:latin typeface="Microsoft YaHei"/>
              </a:rPr>
              <a:t>✓ detail.batch_id 批次隔离，多批共库互不污染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486400"/>
            <a:ext cx="5212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E293B"/>
                </a:solidFill>
                <a:latin typeface="Microsoft YaHei"/>
              </a:rPr>
              <a:t>✓ 三层守卫：解析阻断 / EventOut 校验 / CI 测试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63640" y="1371600"/>
            <a:ext cx="5486400" cy="4846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1554480"/>
            <a:ext cx="5029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293B"/>
                </a:solidFill>
                <a:latin typeface="Microsoft YaHei"/>
              </a:rPr>
              <a:t>契约带来的三个直接收益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2103120"/>
            <a:ext cx="5029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284C7"/>
                </a:solidFill>
                <a:latin typeface="Microsoft YaHei"/>
              </a:rPr>
              <a:t>✓ 0 次字段打架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20840" y="2487168"/>
            <a:ext cx="48463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64748B"/>
                </a:solidFill>
                <a:latin typeface="Microsoft YaHei"/>
              </a:rPr>
              <a:t>6 人并行开发，联调不再卡在字段名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429000"/>
            <a:ext cx="5029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284C7"/>
                </a:solidFill>
                <a:latin typeface="Microsoft YaHei"/>
              </a:rPr>
              <a:t>✓ 证据可回指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20840" y="3813048"/>
            <a:ext cx="48463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64748B"/>
                </a:solidFill>
                <a:latin typeface="Microsoft YaHei"/>
              </a:rPr>
              <a:t>入库 id 与原始 source_event_id 分离，</a:t>
            </a:r>
          </a:p>
          <a:p>
            <a:pPr algn="l">
              <a:lnSpc>
                <a:spcPct val="115000"/>
              </a:lnSpc>
            </a:pPr>
            <a:r>
              <a:rPr sz="1250" b="0">
                <a:solidFill>
                  <a:srgbClr val="64748B"/>
                </a:solidFill>
                <a:latin typeface="Microsoft YaHei"/>
              </a:rPr>
              <a:t>攻击步骤可穿透到原始事件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4754880"/>
            <a:ext cx="5029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284C7"/>
                </a:solidFill>
                <a:latin typeface="Microsoft YaHei"/>
              </a:rPr>
              <a:t>✓ 多批共存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20840" y="5138928"/>
            <a:ext cx="48463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64748B"/>
                </a:solidFill>
                <a:latin typeface="Microsoft YaHei"/>
              </a:rPr>
              <a:t>apt29 / ctu13 / 靶场批次同库互不干扰，</a:t>
            </a:r>
          </a:p>
          <a:p>
            <a:pPr algn="l">
              <a:lnSpc>
                <a:spcPct val="115000"/>
              </a:lnSpc>
            </a:pPr>
            <a:r>
              <a:rPr sz="1250" b="0">
                <a:solidFill>
                  <a:srgbClr val="64748B"/>
                </a:solidFill>
                <a:latin typeface="Microsoft YaHei"/>
              </a:rPr>
              <a:t>前端一键切换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5806440"/>
            <a:ext cx="5029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D97706"/>
                </a:solidFill>
                <a:latin typeface="Microsoft YaHei"/>
              </a:rPr>
              <a:t>实测：47,055 条主机事件一次入库全过校验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914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284C7"/>
                </a:solidFill>
                <a:latin typeface="Microsoft YaHei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E293B"/>
                </a:solidFill>
                <a:latin typeface="Microsoft YaHei"/>
              </a:rPr>
              <a:t>核心模块实现 · 采集与解析（B / C）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82296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4748B"/>
                </a:solidFill>
                <a:latin typeface="Microsoft YaHei"/>
              </a:rPr>
              <a:t>主机侧 33 种事件类型 · 网络侧 10 检测器 → ATT&amp;CK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152144"/>
            <a:ext cx="11338560" cy="31750"/>
          </a:xfrm>
          <a:prstGeom prst="rect">
            <a:avLst/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98480" y="649224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4748B"/>
                </a:solidFill>
                <a:latin typeface="Microsoft YaHei"/>
              </a:rPr>
              <a:t>题3 · 溯源分析系统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371600"/>
            <a:ext cx="5486400" cy="4846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554480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284C7"/>
                </a:solidFill>
                <a:latin typeface="Microsoft YaHei"/>
              </a:rPr>
              <a:t>B · 主机日志解析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148840"/>
            <a:ext cx="502920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E293B"/>
                </a:solidFill>
                <a:latin typeface="Microsoft YaHei"/>
              </a:rPr>
              <a:t>✓ 5 类输入：EVTX / Sysmon EVTX+JSON / auth / auditd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862072"/>
            <a:ext cx="502920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E293B"/>
                </a:solidFill>
                <a:latin typeface="Microsoft YaHei"/>
              </a:rPr>
              <a:t>✓ 33 种标准事件类型，时间统一 UTC+8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575304"/>
            <a:ext cx="502920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E293B"/>
                </a:solidFill>
                <a:latin typeface="Microsoft YaHei"/>
              </a:rPr>
              <a:t>✓ 登录会话重建：4624/4634/4647 配对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288536"/>
            <a:ext cx="502920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E293B"/>
                </a:solidFill>
                <a:latin typeface="Microsoft YaHei"/>
              </a:rPr>
              <a:t>✓ 异常预标记 8 规则（爆破/编码执行/内存注入…）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001768"/>
            <a:ext cx="502920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E293B"/>
                </a:solidFill>
                <a:latin typeface="Microsoft YaHei"/>
              </a:rPr>
              <a:t>✓ 实测：47,055 条事件一次通过契约校验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63640" y="1371600"/>
            <a:ext cx="5486400" cy="4846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1554480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284C7"/>
                </a:solidFill>
                <a:latin typeface="Microsoft YaHei"/>
              </a:rPr>
              <a:t>C · 网络流量解析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2148840"/>
            <a:ext cx="502920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E293B"/>
                </a:solidFill>
                <a:latin typeface="Microsoft YaHei"/>
              </a:rPr>
              <a:t>✓ 4 类输入：PCAP · Zeek · filterlog · CSV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2862072"/>
            <a:ext cx="502920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E293B"/>
                </a:solidFill>
                <a:latin typeface="Microsoft YaHei"/>
              </a:rPr>
              <a:t>✓ 10 检测器 → ATT&amp;CK（扫描/C2/DNS隧道/外传/横向…）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575304"/>
            <a:ext cx="502920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E293B"/>
                </a:solidFill>
                <a:latin typeface="Microsoft YaHei"/>
              </a:rPr>
              <a:t>✓ 实战新增 CC 轮询检测（CTU-13 零误报）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4288536"/>
            <a:ext cx="502920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E293B"/>
                </a:solidFill>
                <a:latin typeface="Microsoft YaHei"/>
              </a:rPr>
              <a:t>✓ 误报修复实录：utmcmd 1354→16 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5001768"/>
            <a:ext cx="502920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E293B"/>
                </a:solidFill>
                <a:latin typeface="Microsoft YaHei"/>
              </a:rPr>
              <a:t>✓ filterlog：action/rule_id 进 detail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914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284C7"/>
                </a:solidFill>
                <a:latin typeface="Microsoft YaHei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E293B"/>
                </a:solidFill>
                <a:latin typeface="Microsoft YaHei"/>
              </a:rPr>
              <a:t>核心模块实现 · D 关联分析 ① 攻击链构建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82296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4748B"/>
                </a:solidFill>
                <a:latin typeface="Microsoft YaHei"/>
              </a:rPr>
              <a:t>从离散事件到带证据编号的攻击链，全流程自动化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152144"/>
            <a:ext cx="11338560" cy="31750"/>
          </a:xfrm>
          <a:prstGeom prst="rect">
            <a:avLst/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98480" y="649224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4748B"/>
                </a:solidFill>
                <a:latin typeface="Microsoft YaHei"/>
              </a:rPr>
              <a:t>题3 · 溯源分析系统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600200"/>
            <a:ext cx="2112264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755648"/>
            <a:ext cx="187451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284C7"/>
                </a:solidFill>
                <a:latin typeface="Microsoft YaHei"/>
              </a:rPr>
              <a:t>多源事件输入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240280"/>
            <a:ext cx="1874519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Microsoft YaHei"/>
              </a:rPr>
              <a:t>Event V2 统一契约</a:t>
            </a:r>
          </a:p>
          <a:p>
            <a:pPr algn="l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Microsoft YaHei"/>
              </a:rPr>
              <a:t>按 case_id 分组</a:t>
            </a:r>
          </a:p>
          <a:p>
            <a:pPr algn="l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Microsoft YaHei"/>
              </a:rPr>
              <a:t>按时间排序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24912" y="1600200"/>
            <a:ext cx="2112264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62072" y="1755648"/>
            <a:ext cx="187451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284C7"/>
                </a:solidFill>
                <a:latin typeface="Microsoft YaHei"/>
              </a:rPr>
              <a:t>实体归一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62072" y="2240280"/>
            <a:ext cx="1874519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Microsoft YaHei"/>
              </a:rPr>
              <a:t>hosts 表 IP 与主机名互查</a:t>
            </a:r>
          </a:p>
          <a:p>
            <a:pPr algn="l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Microsoft YaHei"/>
              </a:rPr>
              <a:t>内网 / 外部网段判定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38344" y="1600200"/>
            <a:ext cx="2112264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75504" y="1755648"/>
            <a:ext cx="187451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DC2626"/>
                </a:solidFill>
                <a:latin typeface="Microsoft YaHei"/>
              </a:rPr>
              <a:t>9 阶段检测器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75504" y="2240280"/>
            <a:ext cx="1874519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Microsoft YaHei"/>
              </a:rPr>
              <a:t>初始访问→执行→持久化</a:t>
            </a:r>
          </a:p>
          <a:p>
            <a:pPr algn="l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Microsoft YaHei"/>
              </a:rPr>
              <a:t>提权→横向→收集</a:t>
            </a:r>
          </a:p>
          <a:p>
            <a:pPr algn="l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Microsoft YaHei"/>
              </a:rPr>
              <a:t>C2→外传→防御逃逸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51775" y="1600200"/>
            <a:ext cx="2112264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88935" y="1755648"/>
            <a:ext cx="187451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D97706"/>
                </a:solidFill>
                <a:latin typeface="Microsoft YaHei"/>
              </a:rPr>
              <a:t>AttackStep 序列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88935" y="2240280"/>
            <a:ext cx="1874519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Microsoft YaHei"/>
              </a:rPr>
              <a:t>12 技术映射表命中</a:t>
            </a:r>
          </a:p>
          <a:p>
            <a:pPr algn="l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Microsoft YaHei"/>
              </a:rPr>
              <a:t>去重 · 时间排序</a:t>
            </a:r>
          </a:p>
          <a:p>
            <a:pPr algn="l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Microsoft YaHei"/>
              </a:rPr>
              <a:t>编号 S001…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665208" y="1600200"/>
            <a:ext cx="2112264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802368" y="1755648"/>
            <a:ext cx="187451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7C3AED"/>
                </a:solidFill>
                <a:latin typeface="Microsoft YaHei"/>
              </a:rPr>
              <a:t>攻击图 + 路径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02368" y="2240280"/>
            <a:ext cx="1874519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Microsoft YaHei"/>
              </a:rPr>
              <a:t>build_attack_graph</a:t>
            </a:r>
          </a:p>
          <a:p>
            <a:pPr algn="l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Microsoft YaHei"/>
              </a:rPr>
              <a:t>find_attack_paths</a:t>
            </a:r>
          </a:p>
          <a:p>
            <a:pPr algn="l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Microsoft YaHei"/>
              </a:rPr>
              <a:t>提取主攻击链路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560320" y="2377440"/>
            <a:ext cx="128016" cy="38100"/>
          </a:xfrm>
          <a:prstGeom prst="rect">
            <a:avLst/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873752" y="2377440"/>
            <a:ext cx="128016" cy="38100"/>
          </a:xfrm>
          <a:prstGeom prst="rect">
            <a:avLst/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187184" y="2377440"/>
            <a:ext cx="128016" cy="38100"/>
          </a:xfrm>
          <a:prstGeom prst="rect">
            <a:avLst/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500616" y="2377440"/>
            <a:ext cx="128016" cy="38100"/>
          </a:xfrm>
          <a:prstGeom prst="rect">
            <a:avLst/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1480" y="3657600"/>
            <a:ext cx="11247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293B"/>
                </a:solidFill>
                <a:latin typeface="Microsoft YaHei"/>
              </a:rPr>
              <a:t>实测链还原（e_case01 靶场，720 条事件 → 47 步）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4206240"/>
            <a:ext cx="173736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920" y="4315968"/>
            <a:ext cx="1737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50" b="1">
                <a:solidFill>
                  <a:srgbClr val="DC2626"/>
                </a:solidFill>
                <a:latin typeface="Microsoft YaHei"/>
              </a:rPr>
              <a:t>攻击机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4700016"/>
            <a:ext cx="1737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Consolas"/>
              </a:rPr>
              <a:t>10.10.10.10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834639" y="4206240"/>
            <a:ext cx="173736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834639" y="4315968"/>
            <a:ext cx="1737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50" b="1">
                <a:solidFill>
                  <a:srgbClr val="DC2626"/>
                </a:solidFill>
                <a:latin typeface="Microsoft YaHei"/>
              </a:rPr>
              <a:t>web-server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834639" y="4700016"/>
            <a:ext cx="1737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Consolas"/>
              </a:rPr>
              <a:t>入侵点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166359" y="4206240"/>
            <a:ext cx="173736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166359" y="4315968"/>
            <a:ext cx="1737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50" b="1">
                <a:solidFill>
                  <a:srgbClr val="0284C7"/>
                </a:solidFill>
                <a:latin typeface="Microsoft YaHei"/>
              </a:rPr>
              <a:t>win10-jump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66359" y="4700016"/>
            <a:ext cx="1737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Consolas"/>
              </a:rPr>
              <a:t>10.10.30.10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498079" y="4206240"/>
            <a:ext cx="173736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498079" y="4315968"/>
            <a:ext cx="1737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50" b="1">
                <a:solidFill>
                  <a:srgbClr val="0284C7"/>
                </a:solidFill>
                <a:latin typeface="Microsoft YaHei"/>
              </a:rPr>
              <a:t>core-server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498079" y="4700016"/>
            <a:ext cx="1737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Consolas"/>
              </a:rPr>
              <a:t>10.10.30.20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829800" y="4206240"/>
            <a:ext cx="173736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829800" y="4315968"/>
            <a:ext cx="1737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50" b="1">
                <a:solidFill>
                  <a:srgbClr val="DC2626"/>
                </a:solidFill>
                <a:latin typeface="Microsoft YaHei"/>
              </a:rPr>
              <a:t>c2-server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29800" y="4700016"/>
            <a:ext cx="1737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Consolas"/>
              </a:rPr>
              <a:t>10.10.10.20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185416" y="4617720"/>
            <a:ext cx="704088" cy="3810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984248" y="4041648"/>
            <a:ext cx="1106424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DC2626"/>
                </a:solidFill>
                <a:latin typeface="Microsoft YaHei"/>
              </a:rPr>
              <a:t>T1190</a:t>
            </a:r>
          </a:p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DC2626"/>
                </a:solidFill>
                <a:latin typeface="Microsoft YaHei"/>
              </a:rPr>
              <a:t>命令注入 ×20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17136" y="4617720"/>
            <a:ext cx="704088" cy="3810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315968" y="4041648"/>
            <a:ext cx="1106424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DC2626"/>
                </a:solidFill>
                <a:latin typeface="Microsoft YaHei"/>
              </a:rPr>
              <a:t>T1021</a:t>
            </a:r>
          </a:p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DC2626"/>
                </a:solidFill>
                <a:latin typeface="Microsoft YaHei"/>
              </a:rPr>
              <a:t>SSH 跳板 ×26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848856" y="4617720"/>
            <a:ext cx="704088" cy="3810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647688" y="4041648"/>
            <a:ext cx="1106424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DC2626"/>
                </a:solidFill>
                <a:latin typeface="Microsoft YaHei"/>
              </a:rPr>
              <a:t>T1005</a:t>
            </a:r>
          </a:p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DC2626"/>
                </a:solidFill>
                <a:latin typeface="Microsoft YaHei"/>
              </a:rPr>
              <a:t>取敏感文件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180576" y="4617720"/>
            <a:ext cx="704088" cy="3810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979408" y="4041648"/>
            <a:ext cx="1106424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DC2626"/>
                </a:solidFill>
                <a:latin typeface="Microsoft YaHei"/>
              </a:rPr>
              <a:t>T1071</a:t>
            </a:r>
          </a:p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DC2626"/>
                </a:solidFill>
                <a:latin typeface="Microsoft YaHei"/>
              </a:rPr>
              <a:t>C2 beacon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11480" y="5349240"/>
            <a:ext cx="11247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E293B"/>
                </a:solidFill>
                <a:latin typeface="Microsoft YaHei"/>
              </a:rPr>
              <a:t>入侵点（首个被攻破的内网主机）自动标记；每一步都挂 evidence_event_ids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11480" y="585216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检测器特征举例：登录爆破 · 命令注入 payload · 远程服务端口（22/445/3389/5985）· 敏感文件路径 · C2 信标周期性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914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284C7"/>
                </a:solidFill>
                <a:latin typeface="Microsoft YaHei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E293B"/>
                </a:solidFill>
                <a:latin typeface="Microsoft YaHei"/>
              </a:rPr>
              <a:t>核心模块实现 · D 关联分析 ② 攻击者行为回溯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82296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4748B"/>
                </a:solidFill>
                <a:latin typeface="Microsoft YaHei"/>
              </a:rPr>
              <a:t>每一步可点开原始证据，每个攻击者都有画像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152144"/>
            <a:ext cx="11338560" cy="31750"/>
          </a:xfrm>
          <a:prstGeom prst="rect">
            <a:avLst/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98480" y="649224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4748B"/>
                </a:solidFill>
                <a:latin typeface="Microsoft YaHei"/>
              </a:rPr>
              <a:t>题3 · 溯源分析系统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371600"/>
            <a:ext cx="548640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508760"/>
            <a:ext cx="5029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284C7"/>
                </a:solidFill>
                <a:latin typeface="Microsoft YaHei"/>
              </a:rPr>
              <a:t>四种回溯手段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11680"/>
            <a:ext cx="512064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E293B"/>
                </a:solidFill>
                <a:latin typeface="Microsoft YaHei"/>
              </a:rPr>
              <a:t>▸ 证据穿透：步骤 → evidence_event_ids → 原始事件原文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578608"/>
            <a:ext cx="512064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E293B"/>
                </a:solidFill>
                <a:latin typeface="Microsoft YaHei"/>
              </a:rPr>
              <a:t>▸ 时间窗回溯：展开步骤前后事件窗口，还原现场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145536"/>
            <a:ext cx="512064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E293B"/>
                </a:solidFill>
                <a:latin typeface="Microsoft YaHei"/>
              </a:rPr>
              <a:t>▸ 路径反演：find_attack_paths 从任一节点回推入口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712464"/>
            <a:ext cx="512064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E293B"/>
                </a:solidFill>
                <a:latin typeface="Microsoft YaHei"/>
              </a:rPr>
              <a:t>▸ 跨批次隔离：按 case_id 回溯，多批互不串扰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63640" y="1371600"/>
            <a:ext cx="548640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1508760"/>
            <a:ext cx="5029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284C7"/>
                </a:solidFill>
                <a:latin typeface="Microsoft YaHei"/>
              </a:rPr>
              <a:t>归因画像（attribution.py）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2011680"/>
            <a:ext cx="512064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E293B"/>
                </a:solidFill>
                <a:latin typeface="Microsoft YaHei"/>
              </a:rPr>
              <a:t>▸ 入侵点提取：首个被攻破的内网主机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2578608"/>
            <a:ext cx="512064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E293B"/>
                </a:solidFill>
                <a:latin typeface="Microsoft YaHei"/>
              </a:rPr>
              <a:t>▸ 攻击者指纹：源 IP / 手法 / 目标偏好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3145536"/>
            <a:ext cx="512064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E293B"/>
                </a:solidFill>
                <a:latin typeface="Microsoft YaHei"/>
              </a:rPr>
              <a:t>▸ C2 基础设施：域名 / IP / 端口 / 路径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712464"/>
            <a:ext cx="512064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E293B"/>
                </a:solidFill>
                <a:latin typeface="Microsoft YaHei"/>
              </a:rPr>
              <a:t>▸ TTP 相似度：与内置 APT 画像 + 威胁情报比对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" y="4709160"/>
            <a:ext cx="11247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293B"/>
                </a:solidFill>
                <a:latin typeface="Microsoft YaHei"/>
              </a:rPr>
              <a:t>实测回溯案例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5166360"/>
            <a:ext cx="54864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5285232"/>
            <a:ext cx="502920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E293B"/>
                </a:solidFill>
                <a:latin typeface="Microsoft YaHei"/>
              </a:rPr>
              <a:t>CTU-13：CC 轮询告警 → 回溯锁定感染主机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1E293B"/>
                </a:solidFill>
                <a:latin typeface="Microsoft YaHei"/>
              </a:rPr>
              <a:t>SARUMAN，与 ground truth 一致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63640" y="5166360"/>
            <a:ext cx="54864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92240" y="5285232"/>
            <a:ext cx="502920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E293B"/>
                </a:solidFill>
                <a:latin typeface="Microsoft YaHei"/>
              </a:rPr>
              <a:t>APT29：C2 心跳事件 → 回溯出 GT 之外真实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1E293B"/>
                </a:solidFill>
                <a:latin typeface="Microsoft YaHei"/>
              </a:rPr>
              <a:t>域名 footprintdns.com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914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284C7"/>
                </a:solidFill>
                <a:latin typeface="Microsoft YaHei"/>
              </a:rP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E293B"/>
                </a:solidFill>
                <a:latin typeface="Microsoft YaHei"/>
              </a:rPr>
              <a:t>E 靶场构建 · 9 节点三段式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82296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4748B"/>
                </a:solidFill>
                <a:latin typeface="Microsoft YaHei"/>
              </a:rPr>
              <a:t>VMware 隔离 · OPNsense 三接口分段 · 完整入侵链由攻击机一手触发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152144"/>
            <a:ext cx="11338560" cy="31750"/>
          </a:xfrm>
          <a:prstGeom prst="rect">
            <a:avLst/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98480" y="649224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4748B"/>
                </a:solidFill>
                <a:latin typeface="Microsoft YaHei"/>
              </a:rPr>
              <a:t>题3 · 溯源分析系统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353312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284C7"/>
                </a:solidFill>
                <a:latin typeface="Consolas"/>
              </a:rPr>
              <a:t>WAN 10.10.10.0/24（攻击机·C2）  →  DMZ 10.10.20.0/24（Web·Email）  →  LAN 10.10.30.0/24（Win10·Core）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783080"/>
            <a:ext cx="1536192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1865376"/>
            <a:ext cx="153619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1">
                <a:solidFill>
                  <a:srgbClr val="DC2626"/>
                </a:solidFill>
                <a:latin typeface="Microsoft YaHei"/>
              </a:rPr>
              <a:t>攻击机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2267712"/>
            <a:ext cx="153619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Consolas"/>
              </a:rPr>
              <a:t>10.10.10.10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84832" y="1783080"/>
            <a:ext cx="1536192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84832" y="1865376"/>
            <a:ext cx="153619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1">
                <a:solidFill>
                  <a:srgbClr val="BE185D"/>
                </a:solidFill>
                <a:latin typeface="Microsoft YaHei"/>
              </a:rPr>
              <a:t>C2 服务器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84832" y="2267712"/>
            <a:ext cx="153619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Consolas"/>
              </a:rPr>
              <a:t>10.10.10.20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758184" y="1783080"/>
            <a:ext cx="1536192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58184" y="1865376"/>
            <a:ext cx="153619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1">
                <a:solidFill>
                  <a:srgbClr val="D97706"/>
                </a:solidFill>
                <a:latin typeface="Microsoft YaHei"/>
              </a:rPr>
              <a:t>OPNsense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58184" y="2267712"/>
            <a:ext cx="153619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Consolas"/>
              </a:rPr>
              <a:t>三接口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31536" y="1783080"/>
            <a:ext cx="1536192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31536" y="1865376"/>
            <a:ext cx="153619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1">
                <a:solidFill>
                  <a:srgbClr val="0284C7"/>
                </a:solidFill>
                <a:latin typeface="Microsoft YaHei"/>
              </a:rPr>
              <a:t>Web (DVWA)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31536" y="2267712"/>
            <a:ext cx="153619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Consolas"/>
              </a:rPr>
              <a:t>10.10.20.10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104888" y="1783080"/>
            <a:ext cx="1536192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04888" y="1865376"/>
            <a:ext cx="153619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1">
                <a:solidFill>
                  <a:srgbClr val="0284C7"/>
                </a:solidFill>
                <a:latin typeface="Microsoft YaHei"/>
              </a:rPr>
              <a:t>Email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04888" y="2267712"/>
            <a:ext cx="153619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Consolas"/>
              </a:rPr>
              <a:t>10.10.20.20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778240" y="1783080"/>
            <a:ext cx="1536192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778240" y="1865376"/>
            <a:ext cx="153619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1">
                <a:solidFill>
                  <a:srgbClr val="059669"/>
                </a:solidFill>
                <a:latin typeface="Microsoft YaHei"/>
              </a:rPr>
              <a:t>Win10 跳板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78240" y="2267712"/>
            <a:ext cx="153619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Consolas"/>
              </a:rPr>
              <a:t>10.10.30.10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451592" y="1783080"/>
            <a:ext cx="1536192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451592" y="1865376"/>
            <a:ext cx="153619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1">
                <a:solidFill>
                  <a:srgbClr val="059669"/>
                </a:solidFill>
                <a:latin typeface="Microsoft YaHei"/>
              </a:rPr>
              <a:t>Core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51592" y="2267712"/>
            <a:ext cx="153619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Consolas"/>
              </a:rPr>
              <a:t>10.10.30.20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1480" y="2926080"/>
            <a:ext cx="7863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293B"/>
                </a:solidFill>
                <a:latin typeface="Microsoft YaHei"/>
              </a:rPr>
              <a:t>攻击链剧本（全程抓包 + 全节点日志留存）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1480" y="3401568"/>
            <a:ext cx="457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284C7"/>
                </a:solidFill>
                <a:latin typeface="Microsoft YaHei"/>
              </a:rPr>
              <a:t>①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3401568"/>
            <a:ext cx="7406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E293B"/>
                </a:solidFill>
                <a:latin typeface="Microsoft YaHei"/>
              </a:rPr>
              <a:t>nmap 隐蔽扫描 6 端口 × 4 目标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1480" y="3803904"/>
            <a:ext cx="457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284C7"/>
                </a:solidFill>
                <a:latin typeface="Microsoft YaHei"/>
              </a:rPr>
              <a:t>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60" y="3803904"/>
            <a:ext cx="7406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E293B"/>
                </a:solidFill>
                <a:latin typeface="Microsoft YaHei"/>
              </a:rPr>
              <a:t>ZAP 主动扫描 DVWA（8088）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1480" y="4206240"/>
            <a:ext cx="457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284C7"/>
                </a:solidFill>
                <a:latin typeface="Microsoft YaHei"/>
              </a:rPr>
              <a:t>③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" y="4206240"/>
            <a:ext cx="7406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E293B"/>
                </a:solidFill>
                <a:latin typeface="Microsoft YaHei"/>
              </a:rPr>
              <a:t>DVWA 命令注入 getshell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1480" y="4608576"/>
            <a:ext cx="457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284C7"/>
                </a:solidFill>
                <a:latin typeface="Microsoft YaHei"/>
              </a:rPr>
              <a:t>④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" y="4608576"/>
            <a:ext cx="7406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E293B"/>
                </a:solidFill>
                <a:latin typeface="Microsoft YaHei"/>
              </a:rPr>
              <a:t>SSH 跳板：Web → Win10（22）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11480" y="5010912"/>
            <a:ext cx="457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284C7"/>
                </a:solidFill>
                <a:latin typeface="Microsoft YaHei"/>
              </a:rPr>
              <a:t>⑤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2960" y="5010912"/>
            <a:ext cx="7406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E293B"/>
                </a:solidFill>
                <a:latin typeface="Microsoft YaHei"/>
              </a:rPr>
              <a:t>Win10 → Core:9100 取敏感文件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11480" y="5413248"/>
            <a:ext cx="457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284C7"/>
                </a:solidFill>
                <a:latin typeface="Microsoft YaHei"/>
              </a:rPr>
              <a:t>⑥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2960" y="5413248"/>
            <a:ext cx="7406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E293B"/>
                </a:solidFill>
                <a:latin typeface="Microsoft YaHei"/>
              </a:rPr>
              <a:t>Win10 回连 C2:8080 发 beacon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11480" y="5943600"/>
            <a:ext cx="7680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证据留存：4 抓包点 pcap + filter.log + 全节点日志 + 攻击侧报告（含防火墙三接口共 9 节点）</a:t>
            </a:r>
          </a:p>
        </p:txBody>
      </p:sp>
      <p:pic>
        <p:nvPicPr>
          <p:cNvPr id="44" name="Picture 43" descr="range_z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3063240"/>
            <a:ext cx="3246120" cy="1756191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8549640" y="4864608"/>
            <a:ext cx="3246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Microsoft YaHei"/>
              </a:rPr>
              <a:t>ZAP 扫描 DVWA 实拍</a:t>
            </a:r>
          </a:p>
        </p:txBody>
      </p:sp>
      <p:pic>
        <p:nvPicPr>
          <p:cNvPr id="46" name="Picture 45" descr="range_n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9640" y="5230368"/>
            <a:ext cx="1554480" cy="1217387"/>
          </a:xfrm>
          <a:prstGeom prst="rect">
            <a:avLst/>
          </a:prstGeom>
        </p:spPr>
      </p:pic>
      <p:pic>
        <p:nvPicPr>
          <p:cNvPr id="47" name="Picture 46" descr="range_dvw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69880" y="5120640"/>
            <a:ext cx="1188720" cy="1305881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8549640" y="6492240"/>
            <a:ext cx="1645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Microsoft YaHei"/>
              </a:rPr>
              <a:t>nmap / DVWA 实拍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914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284C7"/>
                </a:solidFill>
                <a:latin typeface="Microsoft YaHei"/>
              </a:rPr>
              <a:t>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E293B"/>
                </a:solidFill>
                <a:latin typeface="Microsoft YaHei"/>
              </a:rPr>
              <a:t>靶场实测 · 剧本 vs 检出对照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82296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4748B"/>
                </a:solidFill>
                <a:latin typeface="Microsoft YaHei"/>
              </a:rPr>
              <a:t>6 段剧本全部事件化，入侵点自动标记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152144"/>
            <a:ext cx="11338560" cy="31750"/>
          </a:xfrm>
          <a:prstGeom prst="rect">
            <a:avLst/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98480" y="649224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4748B"/>
                </a:solidFill>
                <a:latin typeface="Microsoft YaHei"/>
              </a:rPr>
              <a:t>题3 · 溯源分析系统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371600"/>
            <a:ext cx="5669280" cy="4846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508760"/>
            <a:ext cx="5212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284C7"/>
                </a:solidFill>
                <a:latin typeface="Microsoft YaHei"/>
              </a:rPr>
              <a:t>网络侧自动检出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103120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E293B"/>
                </a:solidFill>
                <a:latin typeface="Microsoft YaHei"/>
              </a:rPr>
              <a:t>▸ ③ 命令注入   →   T1190 · 4 告警 + 入侵点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633472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E293B"/>
                </a:solidFill>
                <a:latin typeface="Microsoft YaHei"/>
              </a:rPr>
              <a:t>▸ ④ SSH 跳板   →   T1021 · 13 告警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163824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E293B"/>
                </a:solidFill>
                <a:latin typeface="Microsoft YaHei"/>
              </a:rPr>
              <a:t>▸ ⑤ Core:9100   →   5 个会话事件化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694176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E293B"/>
                </a:solidFill>
                <a:latin typeface="Microsoft YaHei"/>
              </a:rPr>
              <a:t>▸ ⑥ C2 beacon   →   事件化 + 防火墙记录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224528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E293B"/>
                </a:solidFill>
                <a:latin typeface="Microsoft YaHei"/>
              </a:rPr>
              <a:t>▸ ① nmap 6 端口   →   低于阈值 → 如实不告警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754880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E293B"/>
                </a:solidFill>
                <a:latin typeface="Microsoft YaHei"/>
              </a:rPr>
              <a:t>▸ filterlog 588 条   →   action/rule_id 进 detail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623560"/>
            <a:ext cx="53035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284C7"/>
                </a:solidFill>
                <a:latin typeface="Microsoft YaHei"/>
              </a:rPr>
              <a:t>720 条全过契约 → 攻击链 47 步</a:t>
            </a:r>
          </a:p>
        </p:txBody>
      </p:sp>
      <p:pic>
        <p:nvPicPr>
          <p:cNvPr id="17" name="Picture 16" descr="shot_chain_ecase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554480"/>
            <a:ext cx="5486400" cy="30861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309360" y="4709160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Microsoft YaHei"/>
              </a:rPr>
              <a:t>攻击链页面：阶段分列布局，点击环节穿透原始证据</a:t>
            </a:r>
          </a:p>
        </p:txBody>
      </p:sp>
      <p:pic>
        <p:nvPicPr>
          <p:cNvPr id="19" name="Picture 18" descr="shot_dashboard_ecase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5074920"/>
            <a:ext cx="2926080" cy="16459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9372600" y="5669280"/>
            <a:ext cx="23774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Microsoft YaHei"/>
              </a:rPr>
              <a:t>Dashboard 实测：</a:t>
            </a:r>
          </a:p>
          <a:p>
            <a:pPr algn="l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Microsoft YaHei"/>
              </a:rPr>
              <a:t>统计卡片与告警分布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914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284C7"/>
                </a:solidFill>
                <a:latin typeface="Microsoft YaHei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E293B"/>
                </a:solidFill>
                <a:latin typeface="Microsoft YaHei"/>
              </a:rPr>
              <a:t>公开数据集实验 ① CTU-13 僵尸网络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82296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4748B"/>
                </a:solidFill>
                <a:latin typeface="Microsoft YaHei"/>
              </a:rPr>
              <a:t>任务书测试要求(1)：与 ground truth 对照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152144"/>
            <a:ext cx="11338560" cy="31750"/>
          </a:xfrm>
          <a:prstGeom prst="rect">
            <a:avLst/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98480" y="649224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4748B"/>
                </a:solidFill>
                <a:latin typeface="Microsoft YaHei"/>
              </a:rPr>
              <a:t>题3 · 溯源分析系统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371600"/>
            <a:ext cx="557784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50876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284C7"/>
                </a:solidFill>
                <a:latin typeface="Microsoft YaHei"/>
              </a:rPr>
              <a:t>Stratosphere IPS · Neris 场景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11680"/>
            <a:ext cx="52120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E293B"/>
                </a:solidFill>
                <a:latin typeface="Microsoft YaHei"/>
              </a:rPr>
              <a:t>✓ 139,195 会话全量合规入库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578608"/>
            <a:ext cx="52120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E293B"/>
                </a:solidFill>
                <a:latin typeface="Microsoft YaHei"/>
              </a:rPr>
              <a:t>✓ ground truth：感染主机 SARUMAN 精确命中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145536"/>
            <a:ext cx="52120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E293B"/>
                </a:solidFill>
                <a:latin typeface="Microsoft YaHei"/>
              </a:rPr>
              <a:t>✓ CC 轮询新规则：1 告警 0 误报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712464"/>
            <a:ext cx="52120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E293B"/>
                </a:solidFill>
                <a:latin typeface="Microsoft YaHei"/>
              </a:rPr>
              <a:t>✓ 误报修复：1354 → 16 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279392"/>
            <a:ext cx="52120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E293B"/>
                </a:solidFill>
                <a:latin typeface="Microsoft YaHei"/>
              </a:rPr>
              <a:t>✓ 交付 D：EventOut 1,215 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5257800"/>
            <a:ext cx="557784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5376672"/>
            <a:ext cx="51206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D97706"/>
                </a:solidFill>
                <a:latin typeface="Microsoft YaHei"/>
              </a:rPr>
              <a:t>结论：网络单源检测的精确率边界被定量测出</a:t>
            </a:r>
          </a:p>
        </p:txBody>
      </p:sp>
      <p:pic>
        <p:nvPicPr>
          <p:cNvPr id="17" name="Picture 16" descr="shot_dashboard_ctu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554480"/>
            <a:ext cx="5532120" cy="311181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263640" y="4709160"/>
            <a:ext cx="5532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Microsoft YaHei"/>
              </a:rPr>
              <a:t>Dashboard 实测：ctu13_s2 批次统计与告警分布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5120640"/>
            <a:ext cx="553212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0" y="5239512"/>
            <a:ext cx="51206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1E293B"/>
                </a:solidFill>
                <a:latin typeface="Microsoft YaHei"/>
              </a:rPr>
              <a:t>可复现：fetch_dataset.py 一键下载</a:t>
            </a:r>
          </a:p>
          <a:p>
            <a:pPr algn="l">
              <a:lnSpc>
                <a:spcPct val="115000"/>
              </a:lnSpc>
            </a:pPr>
            <a:r>
              <a:rPr sz="1250" b="0">
                <a:solidFill>
                  <a:srgbClr val="1E293B"/>
                </a:solidFill>
                <a:latin typeface="Microsoft YaHei"/>
              </a:rPr>
              <a:t>post_events.py 分块导入 + 契约校验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914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284C7"/>
                </a:solidFill>
                <a:latin typeface="Microsoft YaHei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E293B"/>
                </a:solidFill>
                <a:latin typeface="Microsoft YaHei"/>
              </a:rPr>
              <a:t>公开数据集实验 ② APT29 Evaluations Day1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82296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4748B"/>
                </a:solidFill>
                <a:latin typeface="Microsoft YaHei"/>
              </a:rPr>
              <a:t>企业内网 APT 数据集 + ATT&amp;CK ground truth 对照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152144"/>
            <a:ext cx="11338560" cy="31750"/>
          </a:xfrm>
          <a:prstGeom prst="rect">
            <a:avLst/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98480" y="649224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4748B"/>
                </a:solidFill>
                <a:latin typeface="Microsoft YaHei"/>
              </a:rPr>
              <a:t>题3 · 溯源分析系统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371600"/>
            <a:ext cx="5486400" cy="4846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554480"/>
            <a:ext cx="5029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284C7"/>
                </a:solidFill>
                <a:latin typeface="Microsoft YaHei"/>
              </a:rPr>
              <a:t>检出结果（B 主机侧 667 条 EventOut）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103120"/>
            <a:ext cx="51206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E293B"/>
                </a:solidFill>
                <a:latin typeface="Microsoft YaHei"/>
              </a:rPr>
              <a:t>✓ 真实环境主机名覆盖 98.5%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743200"/>
            <a:ext cx="51206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E293B"/>
                </a:solidFill>
                <a:latin typeface="Microsoft YaHei"/>
              </a:rPr>
              <a:t>✓ 父技术命中 T1048.003（WebDAV 外传）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383280"/>
            <a:ext cx="51206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E293B"/>
                </a:solidFill>
                <a:latin typeface="Microsoft YaHei"/>
              </a:rPr>
              <a:t>✓ GT 之外发现真实 C2：footprintdns.com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023360"/>
            <a:ext cx="51206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E293B"/>
                </a:solidFill>
                <a:latin typeface="Microsoft YaHei"/>
              </a:rPr>
              <a:t>✓ 48 条内网横向（T1021）与剧本一致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663440"/>
            <a:ext cx="51206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E293B"/>
                </a:solidFill>
                <a:latin typeface="Microsoft YaHei"/>
              </a:rPr>
              <a:t>✓ 未命中 15/19 均为主机侧行为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486400"/>
            <a:ext cx="5120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D97706"/>
                </a:solidFill>
                <a:latin typeface="Microsoft YaHei"/>
              </a:rPr>
              <a:t>→ 单靠网络流量覆盖不了这些技术，</a:t>
            </a:r>
          </a:p>
          <a:p>
            <a:pPr algn="l">
              <a:lnSpc>
                <a:spcPct val="115000"/>
              </a:lnSpc>
            </a:pPr>
            <a:r>
              <a:rPr sz="1350" b="1">
                <a:solidFill>
                  <a:srgbClr val="D97706"/>
                </a:solidFill>
                <a:latin typeface="Microsoft YaHei"/>
              </a:rPr>
              <a:t>多源融合是刚需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63640" y="1371600"/>
            <a:ext cx="5486400" cy="4846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0" y="1554480"/>
            <a:ext cx="5029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284C7"/>
                </a:solidFill>
                <a:latin typeface="Microsoft YaHei"/>
              </a:rPr>
              <a:t>ground truth 对照方法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2194560"/>
            <a:ext cx="51206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1E293B"/>
                </a:solidFill>
                <a:latin typeface="Microsoft YaHei"/>
              </a:rPr>
              <a:t>① 官方 GT → 提取 26 条 Sigma 规则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2816352"/>
            <a:ext cx="51206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1E293B"/>
                </a:solidFill>
                <a:latin typeface="Microsoft YaHei"/>
              </a:rPr>
              <a:t>② 映射 19 项 ATT&amp;CK 技术清单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3438144"/>
            <a:ext cx="51206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1E293B"/>
                </a:solidFill>
                <a:latin typeface="Microsoft YaHei"/>
              </a:rPr>
              <a:t>③ apt29 批次 23,993 条入库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4059936"/>
            <a:ext cx="51206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1E293B"/>
                </a:solidFill>
                <a:latin typeface="Microsoft YaHei"/>
              </a:rPr>
              <a:t>④ D 引擎输出 1,129 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4681728"/>
            <a:ext cx="51206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1E293B"/>
                </a:solidFill>
                <a:latin typeface="Microsoft YaHei"/>
              </a:rPr>
              <a:t>⑤ 逐步骤比对：命中 / 父命中 / 未命中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5486400"/>
            <a:ext cx="5120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D97706"/>
                </a:solidFill>
                <a:latin typeface="Microsoft YaHei"/>
              </a:rPr>
              <a:t>每个结论都可穿透到原始事件佐证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914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284C7"/>
                </a:solidFill>
                <a:latin typeface="Microsoft YaHei"/>
              </a:rP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E293B"/>
                </a:solidFill>
                <a:latin typeface="Microsoft YaHei"/>
              </a:rPr>
              <a:t>F 前端与 LLM 分析报告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82296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4748B"/>
                </a:solidFill>
                <a:latin typeface="Microsoft YaHei"/>
              </a:rPr>
              <a:t>5 页面 · LLM 优先 + 规则降级（永远 200）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152144"/>
            <a:ext cx="11338560" cy="31750"/>
          </a:xfrm>
          <a:prstGeom prst="rect">
            <a:avLst/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98480" y="649224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4748B"/>
                </a:solidFill>
                <a:latin typeface="Microsoft YaHei"/>
              </a:rPr>
              <a:t>题3 · 溯源分析系统</a:t>
            </a:r>
          </a:p>
        </p:txBody>
      </p:sp>
      <p:pic>
        <p:nvPicPr>
          <p:cNvPr id="8" name="Picture 7" descr="shot_repo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463040"/>
            <a:ext cx="6949440" cy="39090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11480" y="5440680"/>
            <a:ext cx="6949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Microsoft YaHei"/>
              </a:rPr>
              <a:t>分析报告页实测：LLM 攻击路径 + 关键证据表（可穿透原始事件）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7589520" y="1463040"/>
            <a:ext cx="420624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18120" y="1600200"/>
            <a:ext cx="374903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284C7"/>
                </a:solidFill>
                <a:latin typeface="Microsoft YaHei"/>
              </a:rPr>
              <a:t>5 个页面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18120" y="2011680"/>
            <a:ext cx="37947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E293B"/>
                </a:solidFill>
                <a:latin typeface="Microsoft YaHei"/>
              </a:rPr>
              <a:t>Dashboard · 攻击时间线 · 攻击链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1E293B"/>
                </a:solidFill>
                <a:latin typeface="Microsoft YaHei"/>
              </a:rPr>
              <a:t>分析报告 · 数据管理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8120" y="3063240"/>
            <a:ext cx="374903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284C7"/>
                </a:solidFill>
                <a:latin typeface="Microsoft YaHei"/>
              </a:rPr>
              <a:t>LLM 管线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18120" y="3474720"/>
            <a:ext cx="3840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1E293B"/>
                </a:solidFill>
                <a:latin typeface="Microsoft YaHei"/>
              </a:rPr>
              <a:t>✓ 过滤 → D 引擎 → LLM（可换厂商）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18120" y="3977640"/>
            <a:ext cx="3840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1E293B"/>
                </a:solidFill>
                <a:latin typeface="Microsoft YaHei"/>
              </a:rPr>
              <a:t>✓ 失败自动规则降级，永远 200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18120" y="4480560"/>
            <a:ext cx="3840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1E293B"/>
                </a:solidFill>
                <a:latin typeface="Microsoft YaHei"/>
              </a:rPr>
              <a:t>✓ 断网可 mock 数据独立演示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8120" y="5212080"/>
            <a:ext cx="3840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64748B"/>
                </a:solidFill>
                <a:latin typeface="Microsoft YaHei"/>
              </a:rPr>
              <a:t>Live / Demo 严格分层，</a:t>
            </a:r>
          </a:p>
          <a:p>
            <a:pPr algn="l">
              <a:lnSpc>
                <a:spcPct val="115000"/>
              </a:lnSpc>
            </a:pPr>
            <a:r>
              <a:rPr sz="1250" b="0">
                <a:solidFill>
                  <a:srgbClr val="64748B"/>
                </a:solidFill>
                <a:latin typeface="Microsoft YaHei"/>
              </a:rPr>
              <a:t>页脚一键切换演示数据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914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284C7"/>
                </a:solidFill>
                <a:latin typeface="Microsoft YaHei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E293B"/>
                </a:solidFill>
                <a:latin typeface="Microsoft YaHei"/>
              </a:rPr>
              <a:t>平台成果总览 · 硬数字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82296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4748B"/>
                </a:solidFill>
                <a:latin typeface="Microsoft YaHei"/>
              </a:rPr>
              <a:t>全部为实测值，可复现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152144"/>
            <a:ext cx="11338560" cy="31750"/>
          </a:xfrm>
          <a:prstGeom prst="rect">
            <a:avLst/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98480" y="649224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4748B"/>
                </a:solidFill>
                <a:latin typeface="Microsoft YaHei"/>
              </a:rPr>
              <a:t>题3 · 溯源分析系统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417320"/>
            <a:ext cx="260604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508760"/>
            <a:ext cx="23317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300" b="1">
                <a:solidFill>
                  <a:srgbClr val="0284C7"/>
                </a:solidFill>
                <a:latin typeface="Microsoft YaHei"/>
              </a:rPr>
              <a:t>203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984248"/>
            <a:ext cx="2331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64748B"/>
                </a:solidFill>
                <a:latin typeface="Microsoft YaHei"/>
              </a:rPr>
              <a:t>自动化测试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154680" y="1417320"/>
            <a:ext cx="260604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91840" y="1508760"/>
            <a:ext cx="23317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300" b="1">
                <a:solidFill>
                  <a:srgbClr val="0284C7"/>
                </a:solidFill>
                <a:latin typeface="Microsoft YaHei"/>
              </a:rPr>
              <a:t>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0" y="1984248"/>
            <a:ext cx="2331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64748B"/>
                </a:solidFill>
                <a:latin typeface="Microsoft YaHei"/>
              </a:rPr>
              <a:t>网络检测器→ATT&amp;CK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2514600"/>
            <a:ext cx="260604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2606040"/>
            <a:ext cx="23317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300" b="1">
                <a:solidFill>
                  <a:srgbClr val="0284C7"/>
                </a:solidFill>
                <a:latin typeface="Microsoft YaHei"/>
              </a:rPr>
              <a:t>31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3081528"/>
            <a:ext cx="2331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64748B"/>
                </a:solidFill>
                <a:latin typeface="Microsoft YaHei"/>
              </a:rPr>
              <a:t>主机事件类型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154680" y="2514600"/>
            <a:ext cx="260604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91840" y="2606040"/>
            <a:ext cx="23317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300" b="1">
                <a:solidFill>
                  <a:srgbClr val="0284C7"/>
                </a:solidFill>
                <a:latin typeface="Microsoft YaHei"/>
              </a:rPr>
              <a:t>9+12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91840" y="3081528"/>
            <a:ext cx="2331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64748B"/>
                </a:solidFill>
                <a:latin typeface="Microsoft YaHei"/>
              </a:rPr>
              <a:t>D 攻击阶段/技术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3611880"/>
            <a:ext cx="260604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3703320"/>
            <a:ext cx="23317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300" b="1">
                <a:solidFill>
                  <a:srgbClr val="0284C7"/>
                </a:solidFill>
                <a:latin typeface="Microsoft YaHei"/>
              </a:rPr>
              <a:t>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4178808"/>
            <a:ext cx="2331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64748B"/>
                </a:solidFill>
                <a:latin typeface="Microsoft YaHei"/>
              </a:rPr>
              <a:t>靶场节点 · 3 网段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154680" y="3611880"/>
            <a:ext cx="260604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91840" y="3703320"/>
            <a:ext cx="23317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300" b="1">
                <a:solidFill>
                  <a:srgbClr val="0284C7"/>
                </a:solidFill>
                <a:latin typeface="Microsoft YaHei"/>
              </a:rPr>
              <a:t>139,195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91840" y="4178808"/>
            <a:ext cx="2331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64748B"/>
                </a:solidFill>
                <a:latin typeface="Microsoft YaHei"/>
              </a:rPr>
              <a:t>CTU-13 会话入库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1480" y="4709159"/>
            <a:ext cx="260604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4800599"/>
            <a:ext cx="23317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300" b="1">
                <a:solidFill>
                  <a:srgbClr val="0284C7"/>
                </a:solidFill>
                <a:latin typeface="Microsoft YaHei"/>
              </a:rPr>
              <a:t>720→47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5276087"/>
            <a:ext cx="2331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64748B"/>
                </a:solidFill>
                <a:latin typeface="Microsoft YaHei"/>
              </a:rPr>
              <a:t>e_case01→攻击步骤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154680" y="4709159"/>
            <a:ext cx="260604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291840" y="4800599"/>
            <a:ext cx="23317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300" b="1">
                <a:solidFill>
                  <a:srgbClr val="0284C7"/>
                </a:solidFill>
                <a:latin typeface="Microsoft YaHei"/>
              </a:rPr>
              <a:t>47,055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291840" y="5276087"/>
            <a:ext cx="2331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64748B"/>
                </a:solidFill>
                <a:latin typeface="Microsoft YaHei"/>
              </a:rPr>
              <a:t>B 侧事件过契约</a:t>
            </a:r>
          </a:p>
        </p:txBody>
      </p:sp>
      <p:pic>
        <p:nvPicPr>
          <p:cNvPr id="32" name="Picture 31" descr="shot_dataman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463040"/>
            <a:ext cx="5760720" cy="3240405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6035040" y="4709160"/>
            <a:ext cx="5760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Microsoft YaHei"/>
              </a:rPr>
              <a:t>数据管理页：多文件拖拽上传 · 批次管理 · 一键触发分析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11480" y="5870448"/>
            <a:ext cx="544068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94360" y="5980176"/>
            <a:ext cx="512064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1E293B"/>
                </a:solidFill>
                <a:latin typeface="Microsoft YaHei"/>
              </a:rPr>
              <a:t>平台批次：apt29 23,993 · e_case01 720 · demo 96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1E293B"/>
                </a:solidFill>
                <a:latin typeface="Microsoft YaHei"/>
              </a:rPr>
              <a:t>交付 D：apt29_day1 667 · ctu13_s2 1,215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914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284C7"/>
                </a:solidFill>
                <a:latin typeface="Microsoft YaHei"/>
              </a:rPr>
              <a:t>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E293B"/>
                </a:solidFill>
                <a:latin typeface="Microsoft YaHei"/>
              </a:rPr>
              <a:t>开源对比与创新性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82296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4748B"/>
                </a:solidFill>
                <a:latin typeface="Microsoft YaHei"/>
              </a:rPr>
              <a:t>8 个同类项目对比 · 详见 docs/开源项目对比与自研系统创新性分析.md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152144"/>
            <a:ext cx="11338560" cy="31750"/>
          </a:xfrm>
          <a:prstGeom prst="rect">
            <a:avLst/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98480" y="649224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4748B"/>
                </a:solidFill>
                <a:latin typeface="Microsoft YaHei"/>
              </a:rPr>
              <a:t>题3 · 溯源分析系统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371600"/>
            <a:ext cx="6675120" cy="4846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508760"/>
            <a:ext cx="6217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284C7"/>
                </a:solidFill>
                <a:latin typeface="Microsoft YaHei"/>
              </a:rPr>
              <a:t>同类项目 vs 本项目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57400"/>
            <a:ext cx="6309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E293B"/>
                </a:solidFill>
                <a:latin typeface="Microsoft YaHei"/>
              </a:rPr>
              <a:t>Wazuh：主机 SIEM，无流量解析与攻击图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624328"/>
            <a:ext cx="6309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E293B"/>
                </a:solidFill>
                <a:latin typeface="Microsoft YaHei"/>
              </a:rPr>
              <a:t>Security Onion：全家桶，部署重不适合课程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191256"/>
            <a:ext cx="6309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E293B"/>
                </a:solidFill>
                <a:latin typeface="Microsoft YaHei"/>
              </a:rPr>
              <a:t>Arkime：偏存储检索，无溯源链生成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758184"/>
            <a:ext cx="6309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E293B"/>
                </a:solidFill>
                <a:latin typeface="Microsoft YaHei"/>
              </a:rPr>
              <a:t>Sigma：仅规则格式，无关联展示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325112"/>
            <a:ext cx="6309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E293B"/>
                </a:solidFill>
                <a:latin typeface="Microsoft YaHei"/>
              </a:rPr>
              <a:t>OpenCTI / MISP：情报共享，不解析原始日志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892040"/>
            <a:ext cx="6309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E293B"/>
                </a:solidFill>
                <a:latin typeface="Microsoft YaHei"/>
              </a:rPr>
              <a:t>Timesketch：时间线协作，无自动 ATT&amp;CK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458968"/>
            <a:ext cx="6309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E293B"/>
                </a:solidFill>
                <a:latin typeface="Microsoft YaHei"/>
              </a:rPr>
              <a:t>Zeek：事实标准，本项目作解析输入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0" y="1371600"/>
            <a:ext cx="4480560" cy="4846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43800" y="1508760"/>
            <a:ext cx="4023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284C7"/>
                </a:solidFill>
                <a:latin typeface="Microsoft YaHei"/>
              </a:rPr>
              <a:t>三条创新点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43800" y="2057400"/>
            <a:ext cx="4023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1E293B"/>
                </a:solidFill>
                <a:latin typeface="Microsoft YaHei"/>
              </a:rPr>
              <a:t>① 端到端闭环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26679" y="2441448"/>
            <a:ext cx="38404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64748B"/>
                </a:solidFill>
                <a:latin typeface="Microsoft YaHei"/>
              </a:rPr>
              <a:t>原始日志 → 契约 → 攻击链</a:t>
            </a:r>
          </a:p>
          <a:p>
            <a:pPr algn="l">
              <a:lnSpc>
                <a:spcPct val="115000"/>
              </a:lnSpc>
            </a:pPr>
            <a:r>
              <a:rPr sz="1250" b="0">
                <a:solidFill>
                  <a:srgbClr val="64748B"/>
                </a:solidFill>
                <a:latin typeface="Microsoft YaHei"/>
              </a:rPr>
              <a:t>→ 证据回查 → 归因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43800" y="3474720"/>
            <a:ext cx="4023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1E293B"/>
                </a:solidFill>
                <a:latin typeface="Microsoft YaHei"/>
              </a:rPr>
              <a:t>② 契约协作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26679" y="3858768"/>
            <a:ext cx="38404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64748B"/>
                </a:solidFill>
                <a:latin typeface="Microsoft YaHei"/>
              </a:rPr>
              <a:t>三层守卫 + 批次隔离</a:t>
            </a:r>
          </a:p>
          <a:p>
            <a:pPr algn="l">
              <a:lnSpc>
                <a:spcPct val="115000"/>
              </a:lnSpc>
            </a:pPr>
            <a:r>
              <a:rPr sz="1250" b="0">
                <a:solidFill>
                  <a:srgbClr val="64748B"/>
                </a:solidFill>
                <a:latin typeface="Microsoft YaHei"/>
              </a:rPr>
              <a:t>6 人并行 0 次字段打架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43800" y="4892040"/>
            <a:ext cx="4023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1E293B"/>
                </a:solidFill>
                <a:latin typeface="Microsoft YaHei"/>
              </a:rPr>
              <a:t>③ 双重实证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26679" y="5276088"/>
            <a:ext cx="38404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64748B"/>
                </a:solidFill>
                <a:latin typeface="Microsoft YaHei"/>
              </a:rPr>
              <a:t>靶场完整入侵链</a:t>
            </a:r>
          </a:p>
          <a:p>
            <a:pPr algn="l">
              <a:lnSpc>
                <a:spcPct val="115000"/>
              </a:lnSpc>
            </a:pPr>
            <a:r>
              <a:rPr sz="1250" b="0">
                <a:solidFill>
                  <a:srgbClr val="64748B"/>
                </a:solidFill>
                <a:latin typeface="Microsoft YaHei"/>
              </a:rPr>
              <a:t>+ 公开数据集定量验证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914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284C7"/>
                </a:solidFill>
                <a:latin typeface="Microsoft YaHei"/>
              </a:rPr>
              <a:t>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E293B"/>
                </a:solidFill>
                <a:latin typeface="Microsoft YaHei"/>
              </a:rPr>
              <a:t>总结与展望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82296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4748B"/>
                </a:solidFill>
                <a:latin typeface="Microsoft YaHei"/>
              </a:rPr>
              <a:t>对照任务书逐项交付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152144"/>
            <a:ext cx="11338560" cy="31750"/>
          </a:xfrm>
          <a:prstGeom prst="rect">
            <a:avLst/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98480" y="649224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4748B"/>
                </a:solidFill>
                <a:latin typeface="Microsoft YaHei"/>
              </a:rPr>
              <a:t>题3 · 溯源分析系统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371600"/>
            <a:ext cx="5486400" cy="4023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508760"/>
            <a:ext cx="5029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284C7"/>
                </a:solidFill>
                <a:latin typeface="Microsoft YaHei"/>
              </a:rPr>
              <a:t>已完成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57400"/>
            <a:ext cx="512064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E293B"/>
                </a:solidFill>
                <a:latin typeface="Microsoft YaHei"/>
              </a:rPr>
              <a:t>✓ 多源采集融合 → Event V2 统一契约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679192"/>
            <a:ext cx="512064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E293B"/>
                </a:solidFill>
                <a:latin typeface="Microsoft YaHei"/>
              </a:rPr>
              <a:t>✓ B 33 类型 · C 10 检测器 · D 9 阶段关联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300984"/>
            <a:ext cx="512064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E293B"/>
                </a:solidFill>
                <a:latin typeface="Microsoft YaHei"/>
              </a:rPr>
              <a:t>✓ 9 节点靶场完整入侵链实测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922776"/>
            <a:ext cx="512064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E293B"/>
                </a:solidFill>
                <a:latin typeface="Microsoft YaHei"/>
              </a:rPr>
              <a:t>✓ CTU-13 + APT29 定量验证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544568"/>
            <a:ext cx="512064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E293B"/>
                </a:solidFill>
                <a:latin typeface="Microsoft YaHei"/>
              </a:rPr>
              <a:t>✓ 前端 5 页面 + LLM 报告 + Electron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63640" y="1371600"/>
            <a:ext cx="5486400" cy="4023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1508760"/>
            <a:ext cx="5029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D97706"/>
                </a:solidFill>
                <a:latin typeface="Microsoft YaHei"/>
              </a:rPr>
              <a:t>局限与下一步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2057400"/>
            <a:ext cx="512064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E293B"/>
                </a:solidFill>
                <a:latin typeface="Microsoft YaHei"/>
              </a:rPr>
              <a:t>内存镜像取证：YARA 扫描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2679192"/>
            <a:ext cx="512064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E293B"/>
                </a:solidFill>
                <a:latin typeface="Microsoft YaHei"/>
              </a:rPr>
              <a:t>▸ 隐蔽信道：HTTP 隧道建模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300984"/>
            <a:ext cx="512064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E293B"/>
                </a:solidFill>
                <a:latin typeface="Microsoft YaHei"/>
              </a:rPr>
              <a:t>▸ LLM 升级多智能体协作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3922776"/>
            <a:ext cx="512064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E293B"/>
                </a:solidFill>
                <a:latin typeface="Microsoft YaHei"/>
              </a:rPr>
              <a:t>▸ 打包分发：PyInstaller + electron-builder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5760720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284C7"/>
                </a:solidFill>
                <a:latin typeface="Microsoft YaHei"/>
              </a:rPr>
              <a:t>一句话总结：统一契约 + 多源解析 + ATT&amp;CK 关联 + 证据穿透，把一次真实入侵变成可回查、可量化的完整溯源故事。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37744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400" b="1">
                <a:solidFill>
                  <a:srgbClr val="1E293B"/>
                </a:solidFill>
                <a:latin typeface="Microsoft YaHei"/>
              </a:rPr>
              <a:t>谢谢观看 · Q&amp;A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65760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>
                <a:solidFill>
                  <a:srgbClr val="64748B"/>
                </a:solidFill>
                <a:latin typeface="Microsoft YaHei"/>
              </a:rPr>
              <a:t>恶意攻击行为溯源分析系统 · 网络空间安全课程设计 题3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38912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64748B"/>
                </a:solidFill>
                <a:latin typeface="Microsoft YaHei"/>
              </a:rPr>
              <a:t>演示路径：启动平台.bat → 数据管理页选批次 → 各页面查看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