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2011680" cy="50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284C7"/>
                </a:solidFill>
                <a:latin typeface="Microsoft YaHei"/>
              </a:rPr>
              <a:t>网络空间安全课程设计 · 题3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>
                <a:solidFill>
                  <a:srgbClr val="1E293B"/>
                </a:solidFill>
                <a:latin typeface="Microsoft YaHei"/>
              </a:rPr>
              <a:t>基于主机日志、主机行为、网络流量的</a:t>
            </a:r>
          </a:p>
          <a:p>
            <a:pPr algn="l">
              <a:lnSpc>
                <a:spcPct val="135000"/>
              </a:lnSpc>
            </a:pPr>
            <a:r>
              <a:rPr sz="3400" b="1">
                <a:solidFill>
                  <a:srgbClr val="1E293B"/>
                </a:solidFill>
                <a:latin typeface="Microsoft YaHei"/>
              </a:rPr>
              <a:t>恶意攻击行为溯源分析系统设计与实现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4748B"/>
                </a:solidFill>
                <a:latin typeface="Microsoft YaHei"/>
              </a:rPr>
              <a:t>多源数据采集与融合 · ATT&amp;CK 攻击链溯源 · LLM 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小组成员与分工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成员A —— 后端 / 数据库 / 契约集成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89204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成员B —— 主机日志解析（EVTX/Sysmon/auditd）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035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成员C —— 网络流量解析（PCAP/Zeek/filterlog）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530352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成员D —— 关联分析 / 攻击链 / 归因画像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15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成员E —— 靶场构建 / 攻击执行 / 数据交付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715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成员F —— 前端可视化 / LLM 分析报告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YaHei"/>
              </a:rPr>
              <a:t>仓库：information_security_design_project · 全部数字为平台实测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E293B"/>
                </a:solidFill>
                <a:latin typeface="Microsoft YaHei"/>
              </a:rPr>
              <a:t>目 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00200"/>
            <a:ext cx="1463040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20" y="215798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项目背景与任务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215798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系统总体设计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39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3118103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核心模块实现（B/C/D）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063239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118103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靶场构建与实测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33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20" y="407822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公开数据集实验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0233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407822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前端与 LLM 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8348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503834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平台成果与开源对比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98348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284C7"/>
                </a:solidFill>
                <a:latin typeface="Microsoft YaHei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5038344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93B"/>
                </a:solidFill>
                <a:latin typeface="Microsoft YaHei"/>
              </a:rP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项目背景与任务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题目：基于主机日志、主机行为、网络流量的恶意攻击行为溯源分析系统设计与实现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6479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284C7"/>
                </a:solidFill>
                <a:latin typeface="Microsoft YaHei"/>
              </a:rPr>
              <a:t>日志分散 · 格式异构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13432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EVTX / Sysmon / auditd / Zeek / 防火墙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格式时钟各不同，人工翻查如大海捞针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00200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6479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284C7"/>
                </a:solidFill>
                <a:latin typeface="Microsoft YaHei"/>
              </a:rPr>
              <a:t>单源视角盲区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313432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只看流量不知主机行为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只看主机不知攻击者来去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566160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3075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284C7"/>
                </a:solidFill>
                <a:latin typeface="Microsoft YaHei"/>
              </a:rPr>
              <a:t>攻击链路难还原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9392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入侵 → 落地 → 提权 → 横向 → C2 → 外传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跨源路径无法人工串联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566160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73075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284C7"/>
                </a:solidFill>
                <a:latin typeface="Microsoft YaHei"/>
              </a:rPr>
              <a:t>溯源取证难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279392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证据散落无结构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64748B"/>
                </a:solidFill>
                <a:latin typeface="Microsoft YaHei"/>
              </a:rPr>
              <a:t>难以支撑溯源结论与处置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7150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293B"/>
                </a:solidFill>
                <a:latin typeface="Microsoft YaHei"/>
              </a:rPr>
              <a:t>任务书要求：多源数据采集融合 + 大模型多智能体协调，≥8 节点靶场完成完整入侵链验证。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系统总体架构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一次攻击事件 = 一个 case_id = 全部证据（主机+网络+防火墙 同批入库）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91640"/>
            <a:ext cx="211226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C3AED"/>
                </a:solidFill>
                <a:latin typeface="Microsoft YaHei"/>
              </a:rPr>
              <a:t>E 靶场 / 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18745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9 节点三段式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4 抓包点+防火墙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24912" y="1691640"/>
            <a:ext cx="211226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874519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Microsoft YaHei"/>
              </a:rPr>
              <a:t>B 主机日志解析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2072" y="2423160"/>
            <a:ext cx="18745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EVTX / Sysmon / auditd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31 种事件类型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8344" y="1691640"/>
            <a:ext cx="211226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5504" y="1874519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59669"/>
                </a:solidFill>
                <a:latin typeface="Microsoft YaHei"/>
              </a:rPr>
              <a:t>C 网络流量解析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4" y="2423160"/>
            <a:ext cx="18745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PCAP / Zeek / filterlog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10 检测器→ATT&amp;CK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51775" y="1691640"/>
            <a:ext cx="211226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8935" y="1874519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D97706"/>
                </a:solidFill>
                <a:latin typeface="Microsoft YaHei"/>
              </a:rPr>
              <a:t>A 后端 + 契约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8935" y="2423160"/>
            <a:ext cx="18745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FastAPI + SQLite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Event V2 · 19 字段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65208" y="1691640"/>
            <a:ext cx="2112264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2368" y="1874519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DC2626"/>
                </a:solidFill>
                <a:latin typeface="Microsoft YaHei"/>
              </a:rPr>
              <a:t>D 关联分析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2423160"/>
            <a:ext cx="187451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9 阶段 · 12 技术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攻击图 + 归因画像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242316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73752" y="242316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87184" y="242316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242316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88620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Microsoft YaHei"/>
              </a:rPr>
              <a:t>统一契约 Event V2 贯穿全链 —— F 前端 5 页面与 LLM 分析消费同一契约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43484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Dashboard · 攻击时间线 · 攻击链 · 分析报告 · 数据管理 ｜ LLM 优先 + 规则降级，永远 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5120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293B"/>
                </a:solidFill>
                <a:latin typeface="Microsoft YaHei"/>
              </a:rPr>
              <a:t>技术栈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553212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Python 3.13 · FastAPI · SQLite · scapy · python-evtx · ECharts · Electron · LLM（DeepSeek/千问/GLM 可换）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203 个自动化测试 · 三层契约守卫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Event V2 FINAL —— 全组统一数据契约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6 人并行开发的基石：B/C 产出、D/F 消费，全是同一份数据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5778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Microsoft YaHei"/>
              </a:rPr>
              <a:t>19 个公共字段（核心 9 个）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52120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Consolas"/>
              </a:rPr>
              <a:t>timestamp · host · source · source_event_id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Consolas"/>
              </a:rPr>
              <a:t>event_type · src_ip · dst_ip · severity · detail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Consolas"/>
              </a:rPr>
              <a:t>缺失即 null，禁用 unknown / 空串 / 0 占位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Consolas"/>
              </a:rPr>
              <a:t>source 8 枚举：evtx/sysmon/auth/audit/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Consolas"/>
              </a:rPr>
              <a:t>pcap/zeek/firewall/waf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389120"/>
            <a:ext cx="55778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Microsoft YaHei"/>
              </a:rPr>
              <a:t>批次与守卫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83480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✓ detail.batch_id 批次隔离，多批共库互不污染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5212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✓ 三层守卫：解析阻断 / EventOut 校验 / CI 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544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Microsoft YaHei"/>
              </a:rPr>
              <a:t>契约带来的三个直接收益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0312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✓ 0 次字段打架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487168"/>
            <a:ext cx="4846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6 人并行开发，联调不再卡在字段名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290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✓ 证据可回指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813048"/>
            <a:ext cx="4846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入库 id 与原始 source_event_id 分离，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攻击步骤可穿透到原始事件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7548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✓ 多批共存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5138928"/>
            <a:ext cx="4846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apt29 / ctu13 / 靶场批次同库互不干扰，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前端一键切换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064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7706"/>
                </a:solidFill>
                <a:latin typeface="Microsoft YaHei"/>
              </a:rPr>
              <a:t>实测：47,055 条主机事件一次入库全过校验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核心模块实现 · 采集与解析（B / C）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主机侧 31 种事件类型 · 网络侧 10 检测器 → ATT&amp;CK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284C7"/>
                </a:solidFill>
                <a:latin typeface="Microsoft YaHei"/>
              </a:rPr>
              <a:t>B · 主机日志解析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5 类输入：EVTX / Sysmon EVTX+JSON / auth / auditd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62072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31 种标准事件类型，时间统一 UTC+8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75304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登录会话重建：4624/4634/4647 配对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88536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异常预标记 9 规则（爆破/编码执行/持久化…）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01768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实测：47,055 条事件一次通过契约校验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544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284C7"/>
                </a:solidFill>
                <a:latin typeface="Microsoft YaHei"/>
              </a:rPr>
              <a:t>C · 网络流量解析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48840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4 类输入：PCAP · Zeek · filterlog ·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62072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10 检测器 → ATT&amp;CK（扫描/C2/DNS隧道/外传/横向…）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575304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实战新增 CC 轮询检测（CTU-13 零误报）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288536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误报修复实录：utmcmd 1354→16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001768"/>
            <a:ext cx="50292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filterlog：action/rule_id 进 detail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核心模块实现 · D 关联分析 ① 攻击链构建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从离散事件到带证据编号的攻击链，全流程自动化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11226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55648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多源事件输入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187451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Event V2 统一契约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按 case_id 分组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按时间排序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24912" y="1600200"/>
            <a:ext cx="211226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755648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实体归一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2072" y="2240280"/>
            <a:ext cx="187451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hosts 表 IP 与主机名互查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内网 / 外部网段判定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8344" y="1600200"/>
            <a:ext cx="211226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5504" y="1755648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C2626"/>
                </a:solidFill>
                <a:latin typeface="Microsoft YaHei"/>
              </a:rPr>
              <a:t>9 阶段检测器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4" y="2240280"/>
            <a:ext cx="187451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初始访问→执行→持久化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提权→横向→收集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C2→外传→防御逃逸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51775" y="1600200"/>
            <a:ext cx="211226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8935" y="1755648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7706"/>
                </a:solidFill>
                <a:latin typeface="Microsoft YaHei"/>
              </a:rPr>
              <a:t>AttackStep 序列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8935" y="2240280"/>
            <a:ext cx="187451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12 技术映射表命中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去重 · 时间排序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编号 S001…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65208" y="1600200"/>
            <a:ext cx="2112264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2368" y="1755648"/>
            <a:ext cx="187451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7C3AED"/>
                </a:solidFill>
                <a:latin typeface="Microsoft YaHei"/>
              </a:rPr>
              <a:t>攻击图 + 路径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2240280"/>
            <a:ext cx="187451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build_attack_graph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find_attack_paths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提取主攻击链路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237744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73752" y="237744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87184" y="237744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2377440"/>
            <a:ext cx="128016" cy="381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657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Microsoft YaHei"/>
              </a:rPr>
              <a:t>实测链还原（e_case01 靶场，720 条事件 → 47 步）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206240"/>
            <a:ext cx="1737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31596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C2626"/>
                </a:solidFill>
                <a:latin typeface="Microsoft YaHei"/>
              </a:rPr>
              <a:t>攻击机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70001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10.10.10.10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4639" y="4206240"/>
            <a:ext cx="1737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34639" y="431596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C2626"/>
                </a:solidFill>
                <a:latin typeface="Microsoft YaHei"/>
              </a:rPr>
              <a:t>web-server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39" y="470001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入侵点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66359" y="4206240"/>
            <a:ext cx="1737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66359" y="431596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0284C7"/>
                </a:solidFill>
                <a:latin typeface="Microsoft YaHei"/>
              </a:rPr>
              <a:t>win10-jump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59" y="470001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10.10.30.10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98079" y="4206240"/>
            <a:ext cx="1737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79" y="431596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0284C7"/>
                </a:solidFill>
                <a:latin typeface="Microsoft YaHei"/>
              </a:rPr>
              <a:t>core-server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79" y="470001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10.10.30.20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29800" y="4206240"/>
            <a:ext cx="1737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29800" y="431596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C2626"/>
                </a:solidFill>
                <a:latin typeface="Microsoft YaHei"/>
              </a:rPr>
              <a:t>c2-server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800" y="4700016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10.10.10.20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85416" y="4617720"/>
            <a:ext cx="704088" cy="381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984248" y="4041648"/>
            <a:ext cx="1106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T1190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命令注入 ×20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17136" y="4617720"/>
            <a:ext cx="704088" cy="381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15968" y="4041648"/>
            <a:ext cx="1106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T1021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SSH 跳板 ×26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848856" y="4617720"/>
            <a:ext cx="704088" cy="381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47688" y="4041648"/>
            <a:ext cx="1106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T1005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取敏感文件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80576" y="4617720"/>
            <a:ext cx="704088" cy="381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79408" y="4041648"/>
            <a:ext cx="1106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T1071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DC2626"/>
                </a:solidFill>
                <a:latin typeface="Microsoft YaHei"/>
              </a:rPr>
              <a:t>C2 beacon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53492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E293B"/>
                </a:solidFill>
                <a:latin typeface="Microsoft YaHei"/>
              </a:rPr>
              <a:t>入侵点（首个被攻破的内网主机）自动标记；每一步都挂 evidence_event_ids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检测器特征举例：登录爆破 · 命令注入 payload · 远程服务端口（22/445/3389/5985）· 敏感文件路径 · C2 信标周期性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核心模块实现 · D 关联分析 ② 攻击者行为回溯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每一步可点开原始证据，每个攻击者都有画像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Microsoft YaHei"/>
              </a:rPr>
              <a:t>四种回溯手段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证据穿透：步骤 → evidence_event_ids → 原始事件原文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78608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时间窗回溯：展开步骤前后事件窗口，还原现场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45536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路径反演：find_attack_paths 从任一节点回推入口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12464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跨批次隔离：按 case_id 回溯，多批互不串扰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3716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5087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Microsoft YaHei"/>
              </a:rPr>
              <a:t>归因画像（attribution.py）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011680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入侵点提取：首个被攻破的内网主机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578608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攻击者指纹：源 IP / 手法 / 目标偏好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45536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C2 基础设施：域名 / IP / 端口 / 路径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712464"/>
            <a:ext cx="51206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▸ TTP 相似度：与内置 APT 画像 + 威胁情报比对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70916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Microsoft YaHei"/>
              </a:rPr>
              <a:t>实测回溯案例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166360"/>
            <a:ext cx="5486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285232"/>
            <a:ext cx="50292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CTU-13：CC 轮询告警 → 回溯锁定感染主机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SARUMAN，与 ground truth 一致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166360"/>
            <a:ext cx="5486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5285232"/>
            <a:ext cx="50292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APT29：C2 心跳事件 → 回溯出 GT 之外真实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域名 footprintdns.com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E 靶场构建 · 9 节点三段式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VMware 隔离 · OPNsense 三接口分段 · 完整入侵链由攻击机一手触发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533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284C7"/>
                </a:solidFill>
                <a:latin typeface="Consolas"/>
              </a:rPr>
              <a:t>WAN 10.10.10.0/24（攻击机·C2）  →  DMZ 10.10.20.0/24（Web·Email）  →  LAN 10.10.30.0/24（Win10·Core）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DC2626"/>
                </a:solidFill>
                <a:latin typeface="Microsoft YaHei"/>
              </a:rPr>
              <a:t>攻击机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10.10.10.10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84832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4832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BE185D"/>
                </a:solidFill>
                <a:latin typeface="Microsoft YaHei"/>
              </a:rPr>
              <a:t>C2 服务器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4832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10.10.10.20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58184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8184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D97706"/>
                </a:solidFill>
                <a:latin typeface="Microsoft YaHei"/>
              </a:rPr>
              <a:t>OPNsense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184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三接口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31536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1536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0284C7"/>
                </a:solidFill>
                <a:latin typeface="Microsoft YaHei"/>
              </a:rPr>
              <a:t>Web (DVWA)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31536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10.10.20.10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04888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4888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0284C7"/>
                </a:solidFill>
                <a:latin typeface="Microsoft YaHei"/>
              </a:rPr>
              <a:t>Email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10.10.20.20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0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059669"/>
                </a:solidFill>
                <a:latin typeface="Microsoft YaHei"/>
              </a:rPr>
              <a:t>Win10 跳板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10.10.30.10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51592" y="1783080"/>
            <a:ext cx="15361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51592" y="1865376"/>
            <a:ext cx="15361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059669"/>
                </a:solidFill>
                <a:latin typeface="Microsoft YaHei"/>
              </a:rPr>
              <a:t>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51592" y="2267712"/>
            <a:ext cx="15361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onsolas"/>
              </a:rPr>
              <a:t>10.10.30.20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2926080"/>
            <a:ext cx="7863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Microsoft YaHei"/>
              </a:rPr>
              <a:t>攻击链剧本（全程抓包 + 全节点日志留存）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3401568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84C7"/>
                </a:solidFill>
                <a:latin typeface="Microsoft YaHei"/>
              </a:rPr>
              <a:t>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401568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nmap 隐蔽扫描 6 端口 × 4 目标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3803904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84C7"/>
                </a:solidFill>
                <a:latin typeface="Microsoft YaHei"/>
              </a:rPr>
              <a:t>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3803904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ZAP 主动扫描 DVWA（8088）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420624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84C7"/>
                </a:solidFill>
                <a:latin typeface="Microsoft YaHei"/>
              </a:rPr>
              <a:t>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206240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DVWA 命令注入 getshell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608576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84C7"/>
                </a:solidFill>
                <a:latin typeface="Microsoft YaHei"/>
              </a:rPr>
              <a:t>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608576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SSH 跳板：Web → Win10（22）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5010912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84C7"/>
                </a:solidFill>
                <a:latin typeface="Microsoft YaHei"/>
              </a:rPr>
              <a:t>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010912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Win10 → Core:9100 取敏感文件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413248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84C7"/>
                </a:solidFill>
                <a:latin typeface="Microsoft YaHei"/>
              </a:rPr>
              <a:t>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413248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Win10 回连 C2:8080 发 beacon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5943600"/>
            <a:ext cx="7680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证据留存：4 抓包点 pcap + filter.log + 全节点日志 + 攻击侧报告（含防火墙三接口共 9 节点）</a:t>
            </a:r>
          </a:p>
        </p:txBody>
      </p:sp>
      <p:pic>
        <p:nvPicPr>
          <p:cNvPr id="44" name="Picture 43" descr="range_z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063240"/>
            <a:ext cx="3246120" cy="1756191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549640" y="486460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Microsoft YaHei"/>
              </a:rPr>
              <a:t>ZAP 扫描 DVWA 实拍</a:t>
            </a:r>
          </a:p>
        </p:txBody>
      </p:sp>
      <p:pic>
        <p:nvPicPr>
          <p:cNvPr id="46" name="Picture 45" descr="range_n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230368"/>
            <a:ext cx="1554480" cy="1217387"/>
          </a:xfrm>
          <a:prstGeom prst="rect">
            <a:avLst/>
          </a:prstGeom>
        </p:spPr>
      </p:pic>
      <p:pic>
        <p:nvPicPr>
          <p:cNvPr id="47" name="Picture 46" descr="range_dvw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9880" y="5120640"/>
            <a:ext cx="1188720" cy="130588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549640" y="649224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Microsoft YaHei"/>
              </a:rPr>
              <a:t>nmap / DVWA 实拍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靶场实测 · 剧本 vs 检出对照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6 段剧本全部事件化，入侵点自动标记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669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网络侧自动检出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③ 命令注入   →   T1190 · 4 告警 + 入侵点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33472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④ SSH 跳板   →   T1021 · 13 告警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6382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⑤ Core:9100   →   5 个会话事件化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94176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⑥ C2 beacon   →   事件化 + 防火墙记录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2452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① nmap 6 端口   →   低于阈值 → 如实不告警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8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filterlog 588 条   →   action/rule_id 进 detail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2356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720 条全过契约 → 攻击链 47 步</a:t>
            </a:r>
          </a:p>
        </p:txBody>
      </p:sp>
      <p:pic>
        <p:nvPicPr>
          <p:cNvPr id="17" name="Picture 16" descr="shot_chain_ecas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54480"/>
            <a:ext cx="5486400" cy="30861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09360" y="4709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攻击链页面：阶段分列布局，点击环节穿透原始证据</a:t>
            </a:r>
          </a:p>
        </p:txBody>
      </p:sp>
      <p:pic>
        <p:nvPicPr>
          <p:cNvPr id="19" name="Picture 18" descr="shot_dashboard_ecase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5074920"/>
            <a:ext cx="2926080" cy="1645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372600" y="5669280"/>
            <a:ext cx="2377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Dashboard 实测：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统计卡片与告警分布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公开数据集实验 ① CTU-13 僵尸网络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任务书测试要求(1)：与 ground truth 对照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5778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Stratosphere IPS · Neris 场景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212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139,195 会话全量合规入库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78608"/>
            <a:ext cx="5212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ground truth：感染主机 SARUMAN 精确命中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45536"/>
            <a:ext cx="5212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CC 轮询新规则：1 告警 0 误报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12464"/>
            <a:ext cx="5212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误报修复：1354 → 16 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9392"/>
            <a:ext cx="5212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交付 D：EventOut 1,215 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257800"/>
            <a:ext cx="55778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376672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D97706"/>
                </a:solidFill>
                <a:latin typeface="Microsoft YaHei"/>
              </a:rPr>
              <a:t>结论：网络单源检测的精确率边界被定量测出</a:t>
            </a:r>
          </a:p>
        </p:txBody>
      </p:sp>
      <p:pic>
        <p:nvPicPr>
          <p:cNvPr id="17" name="Picture 16" descr="shot_dashboard_ctu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5532120" cy="311181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Dashboard 实测：ctu13_s2 批次统计与告警分布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5120640"/>
            <a:ext cx="55321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5239512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E293B"/>
                </a:solidFill>
                <a:latin typeface="Microsoft YaHei"/>
              </a:rPr>
              <a:t>可复现：fetch_dataset.py 一键下载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1E293B"/>
                </a:solidFill>
                <a:latin typeface="Microsoft YaHei"/>
              </a:rPr>
              <a:t>post_events.py 分块导入 + 契约校验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公开数据集实验 ② APT29 Evaluations Day1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企业内网 APT 数据集 + ATT&amp;CK ground truth 对照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检出结果（B 主机侧 667 条 EventOut）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真实环境主机名覆盖 98.5%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父技术命中 T1048.003（WebDAV 外传）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GT 之外发现真实 C2：footprintdns.com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48 条内网横向（T1021）与剧本一致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63440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未命中 15/19 均为主机侧行为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8640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D97706"/>
                </a:solidFill>
                <a:latin typeface="Microsoft YaHei"/>
              </a:rPr>
              <a:t>→ 单靠网络流量覆盖不了这些技术，</a:t>
            </a:r>
          </a:p>
          <a:p>
            <a:pPr algn="l">
              <a:lnSpc>
                <a:spcPct val="115000"/>
              </a:lnSpc>
            </a:pPr>
            <a:r>
              <a:rPr sz="1350" b="1">
                <a:solidFill>
                  <a:srgbClr val="D97706"/>
                </a:solidFill>
                <a:latin typeface="Microsoft YaHei"/>
              </a:rPr>
              <a:t>多源融合是刚需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371600"/>
            <a:ext cx="548640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5544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ground truth 对照方法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9456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Microsoft YaHei"/>
              </a:rPr>
              <a:t>① 官方 GT → 提取 26 条 Sigma 规则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816352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Microsoft YaHei"/>
              </a:rPr>
              <a:t>② 映射 19 项 ATT&amp;CK 技术清单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438144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Microsoft YaHei"/>
              </a:rPr>
              <a:t>③ apt29 批次 23,993 条入库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059936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Microsoft YaHei"/>
              </a:rPr>
              <a:t>④ D 引擎输出 1,129 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681728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293B"/>
                </a:solidFill>
                <a:latin typeface="Microsoft YaHei"/>
              </a:rPr>
              <a:t>⑤ 逐步骤比对：命中 / 父命中 / 未命中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48640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D97706"/>
                </a:solidFill>
                <a:latin typeface="Microsoft YaHei"/>
              </a:rPr>
              <a:t>每个结论都可穿透到原始事件佐证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F 前端与 LLM 分析报告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5 页面 · LLM 优先 + 规则降级（永远 200）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pic>
        <p:nvPicPr>
          <p:cNvPr id="8" name="Picture 7" descr="shot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3040"/>
            <a:ext cx="6949440" cy="39090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44068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分析报告页实测：LLM 攻击路径 + 关键证据表（可穿透原始事件）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463040"/>
            <a:ext cx="42062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1600200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5 个页面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011680"/>
            <a:ext cx="3794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Dashboard · 攻击时间线 · 攻击链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分析报告 · 数据管理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063240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LLM 管线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474720"/>
            <a:ext cx="3840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E293B"/>
                </a:solidFill>
                <a:latin typeface="Microsoft YaHei"/>
              </a:rPr>
              <a:t>✓ 过滤 → D 引擎 → LLM（可换厂商）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977640"/>
            <a:ext cx="3840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E293B"/>
                </a:solidFill>
                <a:latin typeface="Microsoft YaHei"/>
              </a:rPr>
              <a:t>✓ 失败自动规则降级，永远 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480560"/>
            <a:ext cx="3840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E293B"/>
                </a:solidFill>
                <a:latin typeface="Microsoft YaHei"/>
              </a:rPr>
              <a:t>✓ 断网可 mock 数据独立演示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212080"/>
            <a:ext cx="3840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Live / Demo 严格分层，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页脚一键切换演示数据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平台成果总览 · 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全部为实测值，可复现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0876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203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8424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自动化测试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54680" y="141732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50876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98424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网络检测器→ATT&amp;CK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1460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60604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08152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主机事件类型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54680" y="251460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260604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9+12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08152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D 攻击阶段/技术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61188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7033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7880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靶场节点 · 3 网段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54680" y="3611880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0" y="3703320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139,195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178808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CTU-13 会话入库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709159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800599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720→47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276087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e_case01→攻击步骤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4709159"/>
            <a:ext cx="26060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4800599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284C7"/>
                </a:solidFill>
                <a:latin typeface="Microsoft YaHei"/>
              </a:rPr>
              <a:t>47,055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5276087"/>
            <a:ext cx="2331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B 侧事件过契约</a:t>
            </a:r>
          </a:p>
        </p:txBody>
      </p:sp>
      <p:pic>
        <p:nvPicPr>
          <p:cNvPr id="32" name="Picture 31" descr="shot_dataman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760720" cy="324040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35040" y="4709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Microsoft YaHei"/>
              </a:rPr>
              <a:t>数据管理页：多文件拖拽上传 · 批次管理 · 一键触发分析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870448"/>
            <a:ext cx="5440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5980176"/>
            <a:ext cx="5120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E293B"/>
                </a:solidFill>
                <a:latin typeface="Microsoft YaHei"/>
              </a:rPr>
              <a:t>平台批次：apt29 23,993 · e_case01 720 · demo 96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1E293B"/>
                </a:solidFill>
                <a:latin typeface="Microsoft YaHei"/>
              </a:rPr>
              <a:t>交付 D：apt29_day1 667 · ctu13_s2 1,215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开源对比与创新性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8 个同类项目对比 · 详见 docs/开源项目对比与自研系统创新性分析.md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667512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6217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同类项目 vs 本项目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Wazuh：主机 SIEM，无流量解析与攻击图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24328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Security Onion：全家桶，部署重不适合课程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91256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Arkime：偏存储检索，无溯源链生成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58184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Sigma：仅规则格式，无关联展示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25112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OpenCTI / MISP：情报共享，不解析原始日志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Timesketch：时间线协作，无自动 ATT&amp;CK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58968"/>
            <a:ext cx="6309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Microsoft YaHei"/>
              </a:rPr>
              <a:t>Zeek：事实标准，本项目作解析输入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1371600"/>
            <a:ext cx="44805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150876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Microsoft YaHei"/>
              </a:rPr>
              <a:t>三条创新点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05740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E293B"/>
                </a:solidFill>
                <a:latin typeface="Microsoft YaHei"/>
              </a:rPr>
              <a:t>① 端到端闭环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441448"/>
            <a:ext cx="3840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原始日志 → 契约 → 攻击链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→ 证据回查 → 归因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347472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E293B"/>
                </a:solidFill>
                <a:latin typeface="Microsoft YaHei"/>
              </a:rPr>
              <a:t>② 契约协作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3858768"/>
            <a:ext cx="3840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三层守卫 + 批次隔离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6 人并行 0 次字段打架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489204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E293B"/>
                </a:solidFill>
                <a:latin typeface="Microsoft YaHei"/>
              </a:rPr>
              <a:t>③ 双重实证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5276088"/>
            <a:ext cx="3840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靶场完整入侵链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Microsoft YaHei"/>
              </a:rPr>
              <a:t>+ 公开数据集定量验证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284C7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E293B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对照任务书逐项交付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11338560" cy="3175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0" y="649224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Microsoft YaHei"/>
              </a:rPr>
              <a:t>题3 · 溯源分析系统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284C7"/>
                </a:solidFill>
                <a:latin typeface="Microsoft YaHei"/>
              </a:rPr>
              <a:t>已完成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多源采集融合 → Event V2 统一契约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B 31 类型 · C 10 检测器 · D 9 阶段关联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00984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9 节点靶场完整入侵链实测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22776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CTU-13 + APT29 定量验证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44568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✓ 前端 5 页面 + LLM 报告 + Electron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37160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087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D97706"/>
                </a:solidFill>
                <a:latin typeface="Microsoft YaHei"/>
              </a:rPr>
              <a:t>局限与下一步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057400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主机侧深挖：内存注入 / 反射加载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79192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隐蔽信道：HTTP 隧道建模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00984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LLM 升级多智能体协作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22776"/>
            <a:ext cx="51206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E293B"/>
                </a:solidFill>
                <a:latin typeface="Microsoft YaHei"/>
              </a:rPr>
              <a:t>▸ 打包分发：PyInstaller + electron-builder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76072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284C7"/>
                </a:solidFill>
                <a:latin typeface="Microsoft YaHei"/>
              </a:rPr>
              <a:t>一句话总结：统一契约 + 多源解析 + ATT&amp;CK 关联 + 证据穿透，把一次真实入侵变成可回查、可量化的完整溯源故事。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>
                <a:solidFill>
                  <a:srgbClr val="1E293B"/>
                </a:solidFill>
                <a:latin typeface="Microsoft YaHei"/>
              </a:rPr>
              <a:t>谢谢观看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64748B"/>
                </a:solidFill>
                <a:latin typeface="Microsoft YaHei"/>
              </a:rPr>
              <a:t>恶意攻击行为溯源分析系统 · 网络空间安全课程设计 题3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64748B"/>
                </a:solidFill>
                <a:latin typeface="Microsoft YaHei"/>
              </a:rPr>
              <a:t>演示路径：启动平台.bat → 数据管理页选批次 → 各页面查看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