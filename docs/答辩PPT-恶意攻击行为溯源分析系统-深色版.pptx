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011680" cy="50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D3EE"/>
                </a:solidFill>
                <a:latin typeface="Microsoft YaHei"/>
              </a:rPr>
              <a:t>网络空间安全课程设计 · 题3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>
                <a:solidFill>
                  <a:srgbClr val="F3F4F6"/>
                </a:solidFill>
                <a:latin typeface="Microsoft YaHei"/>
              </a:rPr>
              <a:t>基于主机日志、主机行为、网络流量的</a:t>
            </a:r>
          </a:p>
          <a:p>
            <a:pPr algn="l">
              <a:lnSpc>
                <a:spcPct val="135000"/>
              </a:lnSpc>
            </a:pPr>
            <a:r>
              <a:rPr sz="3400" b="1">
                <a:solidFill>
                  <a:srgbClr val="F3F4F6"/>
                </a:solidFill>
                <a:latin typeface="Microsoft YaHei"/>
              </a:rPr>
              <a:t>恶意攻击行为溯源分析系统设计与实现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A3AF"/>
                </a:solidFill>
                <a:latin typeface="Microsoft YaHei"/>
              </a:rPr>
              <a:t>利用大模型多智能体协调技术 · 多源数据采集与融合 · ATT&amp;CK 攻击链溯源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小组成员与分工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成员A —— 后端 / 数据库 / 契约集成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8920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成员B —— 主机日志解析（EVTX/Sysmon/auditd）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成员C —— 网络流量解析（PCAP/Zeek/filterlog）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53035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成员D —— 关联分析 / 攻击链 / 归因画像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150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成员E —— 靶场构建 / 攻击执行 / 数据交付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57150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成员F —— 前端可视化 / LLM 分析报告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Microsoft YaHei"/>
              </a:rPr>
              <a:t>仓库：information_security_design_project · 全部数字为平台实测，可复现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3F4F6"/>
                </a:solidFill>
                <a:latin typeface="Microsoft YaHei"/>
              </a:rPr>
              <a:t>目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00200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D3EE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2157984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3F4F6"/>
                </a:solidFill>
                <a:latin typeface="Microsoft YaHei"/>
              </a:rPr>
              <a:t>项目背景与任务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D3EE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157984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3F4F6"/>
                </a:solidFill>
                <a:latin typeface="Microsoft YaHei"/>
              </a:rPr>
              <a:t>系统总体设计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39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D3EE"/>
                </a:solidFill>
                <a:latin typeface="Microsoft YaHe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3118103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3F4F6"/>
                </a:solidFill>
                <a:latin typeface="Microsoft YaHei"/>
              </a:rPr>
              <a:t>核心模块实现（B/C/D）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63239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D3EE"/>
                </a:solidFill>
                <a:latin typeface="Microsoft YaHe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118103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3F4F6"/>
                </a:solidFill>
                <a:latin typeface="Microsoft YaHei"/>
              </a:rPr>
              <a:t>靶场构建与实测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D3EE"/>
                </a:solidFill>
                <a:latin typeface="Microsoft YaHe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4078224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3F4F6"/>
                </a:solidFill>
                <a:latin typeface="Microsoft YaHei"/>
              </a:rPr>
              <a:t>公开数据集实验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D3EE"/>
                </a:solidFill>
                <a:latin typeface="Microsoft YaHe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78224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3F4F6"/>
                </a:solidFill>
                <a:latin typeface="Microsoft YaHei"/>
              </a:rPr>
              <a:t>前端与 LLM 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8348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D3EE"/>
                </a:solidFill>
                <a:latin typeface="Microsoft YaHei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5038344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3F4F6"/>
                </a:solidFill>
                <a:latin typeface="Microsoft YaHei"/>
              </a:rPr>
              <a:t>平台成果与开源对比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8348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D3EE"/>
                </a:solidFill>
                <a:latin typeface="Microsoft YaHei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5038344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3F4F6"/>
                </a:solidFill>
                <a:latin typeface="Microsoft YaHei"/>
              </a:rP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D3EE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3F4F6"/>
                </a:solidFill>
                <a:latin typeface="Microsoft YaHei"/>
              </a:rPr>
              <a:t>项目背景与任务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题目：基于主机日志、主机行为、网络流量的恶意攻击行为溯源分析系统设计与实现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CA3AF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3F4F6"/>
                </a:solidFill>
                <a:latin typeface="Microsoft YaHei"/>
              </a:rPr>
              <a:t>企业内网被入侵后，安全团队面临的四个核心痛点：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65960"/>
            <a:ext cx="5486400" cy="173736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D3EE"/>
                </a:solidFill>
                <a:latin typeface="Microsoft YaHei"/>
              </a:rPr>
              <a:t>日志分散 · 格式异构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CA3AF"/>
                </a:solidFill>
                <a:latin typeface="Microsoft YaHei"/>
              </a:rPr>
              <a:t>Windows EVTX / Sysmon / Linux auth / auditd / Zeek / 防火墙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CA3AF"/>
                </a:solidFill>
                <a:latin typeface="Microsoft YaHei"/>
              </a:rPr>
              <a:t>各自格式不同，时钟不统一，人工逐条翻查如大海捞针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965960"/>
            <a:ext cx="5486400" cy="173736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D3EE"/>
                </a:solidFill>
                <a:latin typeface="Microsoft YaHei"/>
              </a:rPr>
              <a:t>单源视角盲区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06040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CA3AF"/>
                </a:solidFill>
                <a:latin typeface="Microsoft YaHei"/>
              </a:rPr>
              <a:t>只看网络流量不知道主机上发生了什么；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CA3AF"/>
                </a:solidFill>
                <a:latin typeface="Microsoft YaHei"/>
              </a:rPr>
              <a:t>只看主机日志不知道攻击者从哪里进来、去了哪里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86200"/>
            <a:ext cx="5486400" cy="173736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D3EE"/>
                </a:solidFill>
                <a:latin typeface="Microsoft YaHei"/>
              </a:rPr>
              <a:t>攻击链路难还原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CA3AF"/>
                </a:solidFill>
                <a:latin typeface="Microsoft YaHei"/>
              </a:rPr>
              <a:t>入侵点 → 落地 → 提权 → 横向 → C2 → 外传，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CA3AF"/>
                </a:solidFill>
                <a:latin typeface="Microsoft YaHei"/>
              </a:rPr>
              <a:t>跨主机跨来源的移动路径无法靠人工串联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886200"/>
            <a:ext cx="5486400" cy="173736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023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D3EE"/>
                </a:solidFill>
                <a:latin typeface="Microsoft YaHei"/>
              </a:rPr>
              <a:t>溯源取证难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526280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CA3AF"/>
                </a:solidFill>
                <a:latin typeface="Microsoft YaHei"/>
              </a:rPr>
              <a:t>缺少结构化的证据留存与关联分析，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CA3AF"/>
                </a:solidFill>
                <a:latin typeface="Microsoft YaHei"/>
              </a:rPr>
              <a:t>难以支撑溯源结论与应急处置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989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任务书要求：利用大模型多智能体协调技术，完成多源数据采集与融合，实现恶意攻击行为的全面溯源和追踪分析；并在 ≥8 节点靶场完成完整入侵链验证。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D3EE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3F4F6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一次攻击事件 = 一个 case_id = 全部证据（主机+网络+防火墙 同批入库，跨源关联）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CA3AF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2112264" cy="201168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73736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C3AED"/>
                </a:solidFill>
                <a:latin typeface="Microsoft YaHei"/>
              </a:rPr>
              <a:t>E 靶场 / 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240280"/>
            <a:ext cx="1920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9 节点三段式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4 抓包点+防火墙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EVTX/auditd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24912" y="1600200"/>
            <a:ext cx="2112264" cy="201168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73736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EA5E9"/>
                </a:solidFill>
                <a:latin typeface="Microsoft YaHei"/>
              </a:rPr>
              <a:t>B 主机日志解析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40280"/>
            <a:ext cx="1920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EVTX / Sysmon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auditd / auth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33 种事件类型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会话重建+异常预标记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8344" y="1600200"/>
            <a:ext cx="2112264" cy="201168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8072" y="173736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C55E"/>
                </a:solidFill>
                <a:latin typeface="Microsoft YaHei"/>
              </a:rPr>
              <a:t>C 网络流量解析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2240280"/>
            <a:ext cx="1920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PCAP / Zeek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filterlog / CSV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10 检测器→ATT&amp;CK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1775" y="1600200"/>
            <a:ext cx="2112264" cy="201168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1503" y="173736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9E0B"/>
                </a:solidFill>
                <a:latin typeface="Microsoft YaHei"/>
              </a:rPr>
              <a:t>A 后端 + 契约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3" y="2240280"/>
            <a:ext cx="1920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FastAPI + SQLite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Event V2 FINAL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19 字段契约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三层校验守卫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65208" y="1600200"/>
            <a:ext cx="2112264" cy="201168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4936" y="173736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C2626"/>
                </a:solidFill>
                <a:latin typeface="Microsoft YaHei"/>
              </a:rPr>
              <a:t>D 关联分析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4936" y="2240280"/>
            <a:ext cx="1920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9 阶段关联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12 ATT&amp;CK 技术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攻击图+归因画像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468880"/>
            <a:ext cx="128016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73752" y="2468880"/>
            <a:ext cx="128016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87184" y="2468880"/>
            <a:ext cx="128016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0616" y="2468880"/>
            <a:ext cx="128016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84048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Microsoft YaHei"/>
              </a:rPr>
              <a:t>统一契约 Event V2 FINAL：19 公共字段 · source 8 枚举 · 缺失即 null · detail 开放字段 · detail.batch_id 批次隔离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31596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F 前端（5 页面 Dashboard/时间线/攻击链/报告/数据管理）与 LLM 分析（LLM 优先 + 规则降级，永远 200）消费同一契约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937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6"/>
                </a:solidFill>
                <a:latin typeface="Microsoft YaHei"/>
              </a:rPr>
              <a:t>技术栈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349240"/>
            <a:ext cx="11247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Python 3.13 · FastAPI · SQLite · scapy · python-evtx · ECharts · Electron（桌面版）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LLM：DeepSeek / 千问 / GLM 可换，LLM 失败自动规则降级 · 203 个自动化测试 · 三层契约守卫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D3EE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3F4F6"/>
                </a:solidFill>
                <a:latin typeface="Microsoft YaHei"/>
              </a:rPr>
              <a:t>Event V2 FINAL —— 全组统一数据契约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一次攻击事件 = 一个 case_id = 全部证据（跨源同批，D 跨源关联的前提）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CA3AF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D3EE"/>
                </a:solidFill>
                <a:latin typeface="Microsoft YaHei"/>
              </a:rPr>
              <a:t>19 个公共字段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5394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Consolas"/>
              </a:rPr>
              <a:t>timestamp · host · source · source_event_id · event_type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Consolas"/>
              </a:rPr>
              <a:t>user · process · src_ip · dst_ip · dst_port · protocol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Consolas"/>
              </a:rPr>
              <a:t>logon_type · session_id · cmdline · detail · description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Consolas"/>
              </a:rPr>
              <a:t>anomaly_flags · severity(0-3) · raw_log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Consolas"/>
              </a:rPr>
              <a:t>后端入库额外生成 id（D 的 evidence_event_ids 用它）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0233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Microsoft YaHei"/>
              </a:rPr>
              <a:t>关键规则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434840"/>
            <a:ext cx="55778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✓ 缺失即 null，禁止 unknown / 空串 / 0 占位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910328"/>
            <a:ext cx="55778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✓ source 8 枚举：windows_evtx / sysmon / linux_auth / linux_audit / network_pcap / network_zeek / firewall / waf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385816"/>
            <a:ext cx="55778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✓ detail 开放字段 + batch_id 批次隔离，多批共库互不污染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861304"/>
            <a:ext cx="55778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✓ 三层契约守卫：解析阻断 / EventOut 校验 / CI 守卫测试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440680" cy="48463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5544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3F4F6"/>
                </a:solidFill>
                <a:latin typeface="Microsoft YaHei"/>
              </a:rPr>
              <a:t>为什么契约是本项目第一块基石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057400"/>
            <a:ext cx="50292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CA3AF"/>
                </a:solidFill>
                <a:latin typeface="Microsoft YaHei"/>
              </a:rPr>
              <a:t>· 6 人并行开发，B/C/D/F 各自消费同一份数据——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9CA3AF"/>
                </a:solidFill>
                <a:latin typeface="Microsoft YaHei"/>
              </a:rPr>
              <a:t>  没有契约，联调每天在字段名上打架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9CA3AF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9CA3AF"/>
                </a:solidFill>
                <a:latin typeface="Microsoft YaHei"/>
              </a:rPr>
              <a:t>· id 与 source_event_id 分离：数据库主键供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9CA3AF"/>
                </a:solidFill>
                <a:latin typeface="Microsoft YaHei"/>
              </a:rPr>
              <a:t>  证据回指，原始日志编号可重复可缺失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9CA3AF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9CA3AF"/>
                </a:solidFill>
                <a:latin typeface="Microsoft YaHei"/>
              </a:rPr>
              <a:t>· detail.batch_id 批次隔离：多批共库互不污染，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9CA3AF"/>
                </a:solidFill>
                <a:latin typeface="Microsoft YaHei"/>
              </a:rPr>
              <a:t>  前端/D 按批次过滤消费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9CA3AF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9CA3AF"/>
                </a:solidFill>
                <a:latin typeface="Microsoft YaHei"/>
              </a:rPr>
              <a:t>· 实测：47,055 条 B 侧事件一次入库全通过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9CA3AF"/>
                </a:solidFill>
                <a:latin typeface="Microsoft YaHei"/>
              </a:rPr>
              <a:t>  契约校验，0 条被页面模块打回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D3EE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3F4F6"/>
                </a:solidFill>
                <a:latin typeface="Microsoft YaHei"/>
              </a:rPr>
              <a:t>核心模块实现 · 采集与解析（B / C）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主机侧 33 种事件类型 · 网络侧 10 检测器 → ATT&amp;CK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CA3AF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486400" cy="48463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Microsoft YaHei"/>
              </a:rPr>
              <a:t>B · 主机日志解析（b_host_parser）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✓ 5 类输入：Windows EVTX / Sysmon EVTX / Sysmon JSON / auth.log / auditd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✓ 33 种标准事件类型（登录 3 / 进程 4 / 网络 3 / 文件 5 / 注册表 4 / 账户 6 / 服务 4 / 计划任务 3 / 日志清除）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✓ 时间对齐：rsyslog ISO8601 修复 + 时区统一 UTC+8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4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✓ 登录会话重建：4624/4634/4647 配对出会话时间线与源 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✓ 异常预标记 8 条规则：爆破 / 用户名枚举 / 编码执行 / 远程下载 / 内存注入检测…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✓ 实测：E 真实靶场 47,055 条事件一次通过契约校验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371600"/>
            <a:ext cx="5486400" cy="48463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087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Microsoft YaHei"/>
              </a:rPr>
              <a:t>C · 网络流量解析（parsers/network）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✓ 4 类输入：PCAP/PCAPNG · Zeek TSV/JSON/合并流 · filterlog ·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✓ 10 检测器 → 10 ATT&amp;CK 技术 / 7 阶段：扫描 T1046 · C2 心跳 T1071 · DNS 隧道 T1071.004 · 外传 T1048 · 横向 T1021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✓ 证据增强：爆破 T1110 · 可疑端口 T1571 · ICMP 隧道 T1095 · Web 攻击 T1190 · CC 轮询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✓ CTU-13 实战新增 CC 轮询检测——感染主机轮询 7 个 C2，零误报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5196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✓ 误报修复实录：utmcmd 参数误报 1354→16 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006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✓ filterlog 防火墙事件：action / rule_id 进 detail（source=firewall）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D3EE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3F4F6"/>
                </a:solidFill>
                <a:latin typeface="Microsoft YaHei"/>
              </a:rPr>
              <a:t>核心模块实现 · D 关联分析（backend/analysis）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把 B/C 的离散事件，串成可回查证据的完整攻击链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CA3AF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394960" cy="246888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Microsoft YaHei"/>
              </a:rPr>
              <a:t>AttackStep —— 12 字段结构化攻击步骤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9377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Consolas"/>
              </a:rPr>
              <a:t>step_id · case_id · stage · technique_id · technique_name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Consolas"/>
              </a:rPr>
              <a:t>timestamp · source_host · target_host · source_ip · target_ip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Consolas"/>
              </a:rPr>
              <a:t>description · evidence_event_ids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Consolas"/>
              </a:rPr>
              <a:t>（数据库 id 数组，前端点击可穿透到原始事件）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023360"/>
            <a:ext cx="5394960" cy="219456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Microsoft YaHei"/>
              </a:rPr>
              <a:t>攻击图 + 归因画像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build_attack_graph：节点=主机/攻击者/C2，边=攻击动作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find_attack_paths：BFS 提取主要攻击路径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attribution：攻击者画像 / C2 基础设施 / TTP 相似度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371600"/>
            <a:ext cx="5669280" cy="48463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关联输出实测一 · e_case01（纯网络侧 720 条）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65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Lateral Movement  (T1021)  ——  26 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13432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Initial Access  (T1190)  ——  20 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660903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Command and Control  (T1071)  ——  1 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026663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2D3EE"/>
                </a:solidFill>
                <a:latin typeface="Microsoft YaHei"/>
              </a:rPr>
              <a:t>→ 47 步攻击链，入侵点（web-server）自动标记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11296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关联输出实测二 · apt29 批次（主机侧 23,993 条）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68496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Privilege Escalation  (T1078)  ——  934 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31596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Execution  (T1059)  ——  134 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663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Collection  (T1005)  ——  36 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010912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Persistence  (T1543.003)  ——  22 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376671"/>
            <a:ext cx="5212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2D3EE"/>
                </a:solidFill>
                <a:latin typeface="Microsoft YaHei"/>
              </a:rPr>
              <a:t>→ 1,129 步 / 9 阶段 12 技术引擎全量支撑；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22D3EE"/>
                </a:solidFill>
                <a:latin typeface="Microsoft YaHei"/>
              </a:rPr>
              <a:t>多源证据越全，链条越完整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D3EE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3F4F6"/>
                </a:solidFill>
                <a:latin typeface="Microsoft YaHei"/>
              </a:rPr>
              <a:t>E 靶场构建 · 9 节点三段式真实攻击环境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VMware 隔离靶场 · OPNsense 防火墙三接口分段 · 完整入侵链由攻击机一手触发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CA3AF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Consolas"/>
              </a:rPr>
              <a:t>WAN 10.10.10.0/24（攻击机·C2）  →  DMZ 10.10.20.0/24（Web·Email）  →  LAN 10.10.30.0/24（Win10 跳板·Core）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1536192" cy="91440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65376"/>
            <a:ext cx="15361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DC2626"/>
                </a:solidFill>
                <a:latin typeface="Microsoft YaHei"/>
              </a:rPr>
              <a:t>攻击机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6771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CA3AF"/>
                </a:solidFill>
                <a:latin typeface="Consolas"/>
              </a:rPr>
              <a:t>10.10.10.10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4832" y="1783080"/>
            <a:ext cx="1536192" cy="91440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4832" y="1865376"/>
            <a:ext cx="15361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BE185D"/>
                </a:solidFill>
                <a:latin typeface="Microsoft YaHei"/>
              </a:rPr>
              <a:t>C2 服务器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26771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CA3AF"/>
                </a:solidFill>
                <a:latin typeface="Consolas"/>
              </a:rPr>
              <a:t>10.10.10.20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8184" y="1783080"/>
            <a:ext cx="1536192" cy="91440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8184" y="1865376"/>
            <a:ext cx="15361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F59E0B"/>
                </a:solidFill>
                <a:latin typeface="Microsoft YaHei"/>
              </a:rPr>
              <a:t>OPNsense 防火墙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184" y="226771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CA3AF"/>
                </a:solidFill>
                <a:latin typeface="Consolas"/>
              </a:rPr>
              <a:t>三接口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31536" y="1783080"/>
            <a:ext cx="1536192" cy="91440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1865376"/>
            <a:ext cx="15361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0EA5E9"/>
                </a:solidFill>
                <a:latin typeface="Microsoft YaHei"/>
              </a:rPr>
              <a:t>Web (DVWA)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1536" y="226771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CA3AF"/>
                </a:solidFill>
                <a:latin typeface="Consolas"/>
              </a:rPr>
              <a:t>10.10.20.10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04888" y="1783080"/>
            <a:ext cx="1536192" cy="91440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1865376"/>
            <a:ext cx="15361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0EA5E9"/>
                </a:solidFill>
                <a:latin typeface="Microsoft YaHei"/>
              </a:rPr>
              <a:t>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226771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CA3AF"/>
                </a:solidFill>
                <a:latin typeface="Consolas"/>
              </a:rPr>
              <a:t>10.10.20.20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783080"/>
            <a:ext cx="1536192" cy="91440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15361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2C55E"/>
                </a:solidFill>
                <a:latin typeface="Microsoft YaHei"/>
              </a:rPr>
              <a:t>Win10 跳板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26771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CA3AF"/>
                </a:solidFill>
                <a:latin typeface="Consolas"/>
              </a:rPr>
              <a:t>10.10.30.10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51592" y="1783080"/>
            <a:ext cx="1536192" cy="91440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51592" y="1865376"/>
            <a:ext cx="15361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22C55E"/>
                </a:solidFill>
                <a:latin typeface="Microsoft YaHei"/>
              </a:rPr>
              <a:t>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1592" y="226771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9CA3AF"/>
                </a:solidFill>
                <a:latin typeface="Consolas"/>
              </a:rPr>
              <a:t>10.10.30.20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292608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3F4F6"/>
                </a:solidFill>
                <a:latin typeface="Microsoft YaHei"/>
              </a:rPr>
              <a:t>攻击链剧本（E 全程一手操作，全程抓包 + 全节点日志留存）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40156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Microsoft YaHei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401568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nmap 隐蔽扫描 6 端口 × 4 目标（-T2 --scan-delay）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80390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Microsoft YaHei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803904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ZAP 主动扫描 DVWA（8088）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20624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Microsoft YaHei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206240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DVWA 命令注入：127.0.0.1 &amp;&amp; case01-stage.sh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6085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Microsoft YaHei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608576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Web 经 sshpass SSH 登录 Win10 跳板（22）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50109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Microsoft YaHei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010912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Win10 访问 Core:9100 取敏感文件 finance_demo.txt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4132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Microsoft YaHei"/>
              </a:rPr>
              <a:t>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413248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Win10 回连 C2:8080 发送 beacon（test-beacon?data=FAKE_DATA）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5943600"/>
            <a:ext cx="7680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CA3AF"/>
                </a:solidFill>
                <a:latin typeface="Microsoft YaHei"/>
              </a:rPr>
              <a:t>证据留存：4 个抓包点 pcap + 防火墙 filter.log + 全节点 auditd/EVTX 日志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CA3AF"/>
                </a:solidFill>
                <a:latin typeface="Microsoft YaHei"/>
              </a:rPr>
              <a:t>+ 攻击侧 nmap / ZAP 报告 + 全程截图（含 OPNsense 三接口，合计 9 节点）</a:t>
            </a:r>
          </a:p>
        </p:txBody>
      </p:sp>
      <p:pic>
        <p:nvPicPr>
          <p:cNvPr id="44" name="Picture 43" descr="range_z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063240"/>
            <a:ext cx="3246120" cy="175619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549640" y="489204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CA3AF"/>
                </a:solidFill>
                <a:latin typeface="Microsoft YaHei"/>
              </a:rPr>
              <a:t>攻击侧实拍：ZAP 扫描 DVWA 告警</a:t>
            </a:r>
          </a:p>
        </p:txBody>
      </p:sp>
      <p:pic>
        <p:nvPicPr>
          <p:cNvPr id="46" name="Picture 45" descr="range_n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303520"/>
            <a:ext cx="1554480" cy="121738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195560" y="576072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CA3AF"/>
                </a:solidFill>
                <a:latin typeface="Microsoft YaHei"/>
              </a:rPr>
              <a:t>nmap 隐蔽扫描输出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D3EE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3F4F6"/>
                </a:solidFill>
                <a:latin typeface="Microsoft YaHei"/>
              </a:rPr>
              <a:t>靶场实测 · 剧本 vs 检出对照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攻击链剧本 6 段，网络侧自动检出入侵点并标记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CA3AF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669280" cy="48463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网络侧自动检出（source=network_pcap / firewall）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▸ ③ DVWA 命令注入   →   T1190 初始访问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     4 条 Web 攻击告警 + 入侵点标记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70048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▸ ④ SSH 跳板 DMZ→LAN   →   T1021 横向移动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     13 条横向告警（SSH 22）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28415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▸ ⑤ Win10→Core:9100   →   5 个会话事件化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     自定义端口留主机侧佐证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3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▸ ⑥ C2 Beacon :8080   →   事件化 + 防火墙记录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     预演+正式跑各一次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4515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▸ ① nmap 扫描   →   6 端口 &lt; 阈值 10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     如实记录：低于阈值不告警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19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▸ 防火墙 filterlog   →   588 条（pass 391 / block 197）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     action / rule_id 进 detail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2D3EE"/>
                </a:solidFill>
                <a:latin typeface="Microsoft YaHei"/>
              </a:rPr>
              <a:t>720 条事件全部通过契约校验 → 攻击链 47 步</a:t>
            </a:r>
          </a:p>
        </p:txBody>
      </p:sp>
      <p:pic>
        <p:nvPicPr>
          <p:cNvPr id="17" name="Picture 16" descr="shot_chain_ecas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486400" cy="3086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09360" y="4709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攻击链页面实测：按阶段分列布局，点击边可穿透回查原始证据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5166360"/>
            <a:ext cx="5486400" cy="105156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285232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证据穿透：攻击链每个环节都带 evidence_event_ids，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答辩现场可当场点开任意环节的原始日志佐证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D3EE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3F4F6"/>
                </a:solidFill>
                <a:latin typeface="Microsoft YaHei"/>
              </a:rPr>
              <a:t>公开数据集实验 ① CTU-13 场景 2（Neris 僵尸网络）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任务书测试要求(1)：收集互联网企业内网攻击数据集，开展溯源分析并与 ground truth 对照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CA3AF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577840" cy="48463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Stratosphere IPS 发布 · 真实僵尸网络流量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✓ 全量 356 万行 / 571MB Zeek 日志；10 万行子集 139,195 会话全部合规入库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✓ ground truth：感染主机 SARUMAN 精确命中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✓ suspicious_port 检测 8/10 精确（IRC C2 连接）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✓ cc_rotation 新规则 1 告警零误报（轮询 7 个 C2）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✓ 误报修复实录：utmcmd 参数误报 1354 → 16 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✓ 交付 D：ctu13_s2 EventOut 1,215 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32120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CA3AF"/>
                </a:solidFill>
                <a:latin typeface="Microsoft YaHei"/>
              </a:rPr>
              <a:t>结论：多源场景下网络单源检测的精确率边界被定量测出，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CA3AF"/>
                </a:solidFill>
                <a:latin typeface="Microsoft YaHei"/>
              </a:rPr>
              <a:t>为 D 的跨源关联与白名单学习提供依据。</a:t>
            </a:r>
          </a:p>
        </p:txBody>
      </p:sp>
      <p:pic>
        <p:nvPicPr>
          <p:cNvPr id="17" name="Picture 16" descr="shot_dashboard_ctu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532120" cy="311181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63640" y="4709160"/>
            <a:ext cx="5532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Dashboard 实测：ctu13_s2 批次统计与告警分布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5120640"/>
            <a:ext cx="5532120" cy="109728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230368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可复现：fetch_dataset.py 一条命令重新下载全部数据；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3F4F6"/>
                </a:solidFill>
                <a:latin typeface="Microsoft YaHei"/>
              </a:rPr>
              <a:t>post_events.py 分块导入 + 契约校验 + round-trip 比对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D3EE"/>
                </a:solidFill>
                <a:latin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3F4F6"/>
                </a:solidFill>
                <a:latin typeface="Microsoft YaHei"/>
              </a:rPr>
              <a:t>公开数据集实验 ② APT29 ATT&amp;CK Evaluations Day1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任务书测试要求(1)：企业内网 APT 攻击数据集 + ATT&amp;CK ground truth 对照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CA3AF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486400" cy="48463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OTRF 官方评测环境 · B 主机侧解析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✓ 667 条 EventOut · 真实环境主机名覆盖 98.5%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✓ ground truth 19 技术（26 条 Sigma 规则提取）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✓ 父技术命中 T1048.003（WebDAV 外传 over C2）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✓ GT 之外发现 APT29 真实 C2 域名 footprintdns.com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✓ 48 条内网横向（T1021）与 day1 剧本一致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CA3AF"/>
                </a:solidFill>
                <a:latin typeface="Microsoft YaHei"/>
              </a:rPr>
              <a:t>结论：未命中 15/19 均为主机侧行为（凭据转储、令牌窃取等）——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CA3AF"/>
                </a:solidFill>
                <a:latin typeface="Microsoft YaHei"/>
              </a:rPr>
              <a:t>定量论证了任务书「多源融合」的必要性：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CA3AF"/>
                </a:solidFill>
                <a:latin typeface="Microsoft YaHei"/>
              </a:rPr>
              <a:t>单靠网络流量不可能覆盖这些技术。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371600"/>
            <a:ext cx="5486400" cy="48463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ground truth 对照方法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1. 官方 JSON ground truth → 提取 26 条 Sigma 规则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2. 映射为 19 项 ATT&amp;CK 技术清单（含父子技术）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3. 平台按 apt29 批次导入 23,993 条主机事件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4. D 引擎输出 1,129 步关联步骤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5. 逐步骤与 GT 清单比对，统计命中 / 父技术命中 / 未命中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命中示例：T1048.003 外传（父技术 T1048 在 GT 清单）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额外发现：footprintdns.com C2 心跳——GT 步骤清单之外，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6"/>
                </a:solidFill>
                <a:latin typeface="Microsoft YaHei"/>
              </a:rPr>
              <a:t>由平台自动检出并可穿透到原始事件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D3EE"/>
                </a:solidFill>
                <a:latin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3F4F6"/>
                </a:solidFill>
                <a:latin typeface="Microsoft YaHei"/>
              </a:rPr>
              <a:t>F 前端与 LLM 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5 页面 · Live/Demo 严格分层 · LLM 优先 + 规则降级（永远 200）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CA3AF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Dashboard 统计卡片与三图联检 · 攻击时间线（5 过滤器+证据面板） · 攻击链（阶段分列图） · 分析报告（LLM） · 数据管理（上传/批次/分析）</a:t>
            </a:r>
          </a:p>
        </p:txBody>
      </p:sp>
      <p:pic>
        <p:nvPicPr>
          <p:cNvPr id="9" name="Picture 8" descr="shot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20240"/>
            <a:ext cx="6766560" cy="38061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580644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分析报告页实测：LLM 攻击路径（attack-external → web-server → win10-jump → c2-server）+ 关键证据表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920240"/>
            <a:ext cx="4389120" cy="448056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205740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LLM 分析管线（llm_analysis.py）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514600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▸ 事件过滤（case_id/主机/时间）→ D 关联引擎 → 精简上下文（按 severity 截断）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017520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▸ OpenAI 兼容接口：DeepSeek / 千问 / GLM / Kimi 可换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520440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▸ 严格 JSON 解析，失败重试 1 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023360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▸ LLM 失败自动降级规则模板（9 阶段推荐）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526280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6"/>
                </a:solidFill>
                <a:latin typeface="Microsoft YaHei"/>
              </a:rPr>
              <a:t>▸ 接口永远 200：source = llm / fallback 如实标注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5257800"/>
            <a:ext cx="397763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CA3AF"/>
                </a:solidFill>
                <a:latin typeface="Microsoft YaHei"/>
              </a:rPr>
              <a:t>断网兜底：全部 EventOut / summary 已落盘，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CA3AF"/>
                </a:solidFill>
                <a:latin typeface="Microsoft YaHei"/>
              </a:rPr>
              <a:t>前端 mock 数据可独立演示（页脚一键切换）。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D3EE"/>
                </a:solidFill>
                <a:latin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3F4F6"/>
                </a:solidFill>
                <a:latin typeface="Microsoft YaHei"/>
              </a:rPr>
              <a:t>平台成果总览 · 硬数字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全部为实测值，可复现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CA3AF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606040" cy="9601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45389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D3EE"/>
                </a:solidFill>
                <a:latin typeface="Microsoft YaHei"/>
              </a:rPr>
              <a:t>203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8745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3F4F6"/>
                </a:solidFill>
                <a:latin typeface="Microsoft YaHei"/>
              </a:rPr>
              <a:t>自动化测试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11226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CA3AF"/>
                </a:solidFill>
                <a:latin typeface="Microsoft YaHei"/>
              </a:rPr>
              <a:t>11 个测试文件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417320"/>
            <a:ext cx="2606040" cy="9601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45389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D3EE"/>
                </a:solidFill>
                <a:latin typeface="Microsoft YaHe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18745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3F4F6"/>
                </a:solidFill>
                <a:latin typeface="Microsoft YaHei"/>
              </a:rPr>
              <a:t>网络检测器→ATT&amp;CK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211226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CA3AF"/>
                </a:solidFill>
                <a:latin typeface="Microsoft YaHei"/>
              </a:rPr>
              <a:t>7 阶段覆盖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14600"/>
            <a:ext cx="2606040" cy="9601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55117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D3EE"/>
                </a:solidFill>
                <a:latin typeface="Microsoft YaHei"/>
              </a:rPr>
              <a:t>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9718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3F4F6"/>
                </a:solidFill>
                <a:latin typeface="Microsoft YaHei"/>
              </a:rPr>
              <a:t>主机事件类型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20954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CA3AF"/>
                </a:solidFill>
                <a:latin typeface="Microsoft YaHei"/>
              </a:rPr>
              <a:t>EVTX/Sysmon/auditd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2514600"/>
            <a:ext cx="2606040" cy="9601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64408" y="255117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D3EE"/>
                </a:solidFill>
                <a:latin typeface="Microsoft YaHei"/>
              </a:rPr>
              <a:t>9+12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4408" y="29718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3F4F6"/>
                </a:solidFill>
                <a:latin typeface="Microsoft YaHei"/>
              </a:rPr>
              <a:t>D 攻击阶段/技术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408" y="320954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CA3AF"/>
                </a:solidFill>
                <a:latin typeface="Microsoft YaHei"/>
              </a:rPr>
              <a:t>AttackStep 12 字段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611880"/>
            <a:ext cx="2606040" cy="9601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364845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D3EE"/>
                </a:solidFill>
                <a:latin typeface="Microsoft YaHei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40690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3F4F6"/>
                </a:solidFill>
                <a:latin typeface="Microsoft YaHei"/>
              </a:rPr>
              <a:t>靶场节点 · 3 网段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" y="430682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CA3AF"/>
                </a:solidFill>
                <a:latin typeface="Microsoft YaHei"/>
              </a:rPr>
              <a:t>4 抓包点+防火墙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3611880"/>
            <a:ext cx="2606040" cy="9601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64408" y="364845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D3EE"/>
                </a:solidFill>
                <a:latin typeface="Microsoft YaHei"/>
              </a:rPr>
              <a:t>139,195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64408" y="40690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3F4F6"/>
                </a:solidFill>
                <a:latin typeface="Microsoft YaHei"/>
              </a:rPr>
              <a:t>CTU-13 会话入库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4408" y="430682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CA3AF"/>
                </a:solidFill>
                <a:latin typeface="Microsoft YaHei"/>
              </a:rPr>
              <a:t>ground truth 精确命中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709159"/>
            <a:ext cx="2606040" cy="9601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4745735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D3EE"/>
                </a:solidFill>
                <a:latin typeface="Microsoft YaHei"/>
              </a:rPr>
              <a:t>720→47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" y="5166359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3F4F6"/>
                </a:solidFill>
                <a:latin typeface="Microsoft YaHei"/>
              </a:rPr>
              <a:t>e_case01 事件→攻击步骤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" y="5404103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CA3AF"/>
                </a:solidFill>
                <a:latin typeface="Microsoft YaHei"/>
              </a:rPr>
              <a:t>靶场实测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4709159"/>
            <a:ext cx="2606040" cy="9601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64408" y="4745735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D3EE"/>
                </a:solidFill>
                <a:latin typeface="Microsoft YaHei"/>
              </a:rPr>
              <a:t>47,055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64408" y="5166359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3F4F6"/>
                </a:solidFill>
                <a:latin typeface="Microsoft YaHei"/>
              </a:rPr>
              <a:t>B 侧事件一次过契约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64408" y="5404103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CA3AF"/>
                </a:solidFill>
                <a:latin typeface="Microsoft YaHei"/>
              </a:rPr>
              <a:t>E 靶场主机侧</a:t>
            </a:r>
          </a:p>
        </p:txBody>
      </p:sp>
      <p:pic>
        <p:nvPicPr>
          <p:cNvPr id="40" name="Picture 39" descr="shot_dataman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760720" cy="324040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035040" y="470916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数据管理页实测：多文件拖拽上传 · 批次列表 · 删除 · 一键触发 B/C/D 分析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870448"/>
            <a:ext cx="5440680" cy="77724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943600"/>
            <a:ext cx="5120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F3F4F6"/>
                </a:solidFill>
                <a:latin typeface="Microsoft YaHei"/>
              </a:rPr>
              <a:t>平台批次（当前库）：apt29 23,993 · e_case01 720 · case03-demo 96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F3F4F6"/>
                </a:solidFill>
                <a:latin typeface="Microsoft YaHei"/>
              </a:rPr>
              <a:t>另导出 EventOut 交付 D：apt29_day1 667 · ctu13_s2 1,215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D3EE"/>
                </a:solidFill>
                <a:latin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3F4F6"/>
                </a:solidFill>
                <a:latin typeface="Microsoft YaHei"/>
              </a:rPr>
              <a:t>开源对比与创新性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8 个同类开源项目 · 详见 docs/开源项目对比与自研系统创新性分析.md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CA3AF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6675120" cy="48463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对比矩阵（项目：优势 / 缺口）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F3F4F6"/>
                </a:solidFill>
                <a:latin typeface="Microsoft YaHei"/>
              </a:rPr>
              <a:t>Wazuh：主机侧 SIEM 规则丰富；缺口 无网络流量解析与攻击图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41448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F3F4F6"/>
                </a:solidFill>
                <a:latin typeface="Microsoft YaHei"/>
              </a:rPr>
              <a:t>Security Onion：全家桶集成度高；缺口 部署重，不适合课程/轻量场景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62656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F3F4F6"/>
                </a:solidFill>
                <a:latin typeface="Microsoft YaHei"/>
              </a:rPr>
              <a:t>Arkime：全流量存储检索强；缺口 偏存储检索，无溯源链生成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83863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F3F4F6"/>
                </a:solidFill>
                <a:latin typeface="Microsoft YaHei"/>
              </a:rPr>
              <a:t>Sigma：检测规则生态好；缺口 仅规则格式，无关联与展示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05072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F3F4F6"/>
                </a:solidFill>
                <a:latin typeface="Microsoft YaHei"/>
              </a:rPr>
              <a:t>OpenCTI / MISP：威胁情报平台；缺口 偏情报共享，不解析原始日志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F3F4F6"/>
                </a:solidFill>
                <a:latin typeface="Microsoft YaHei"/>
              </a:rPr>
              <a:t>TheHive：事件响应编排；缺口 无开箱溯源链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47488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F3F4F6"/>
                </a:solidFill>
                <a:latin typeface="Microsoft YaHei"/>
              </a:rPr>
              <a:t>Timesketch：取证时间线协作；缺口 无自动 ATT&amp;CK 步骤生成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68696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F3F4F6"/>
                </a:solidFill>
                <a:latin typeface="Microsoft YaHei"/>
              </a:rPr>
              <a:t>Zeek：网络日志事实标准；缺口 本项目以其输出为解析输入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371600"/>
            <a:ext cx="4480560" cy="4846320"/>
          </a:xfrm>
          <a:prstGeom prst="rect">
            <a:avLst/>
          </a:prstGeom>
          <a:solidFill>
            <a:srgbClr val="141C2C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48132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Microsoft YaHei"/>
              </a:rPr>
              <a:t>本项目的三条创新点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1965960"/>
            <a:ext cx="4069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3F4F6"/>
                </a:solidFill>
                <a:latin typeface="Microsoft YaHei"/>
              </a:rPr>
              <a:t>① 轻量端到端闭环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313432"/>
            <a:ext cx="4069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多源原始日志 → Event V2 契约 → ATT&amp;CK 攻击步骤 → 攻击链图 → 证据回查 → 归因画像，单仓库可复现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429000"/>
            <a:ext cx="4069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3F4F6"/>
                </a:solidFill>
                <a:latin typeface="Microsoft YaHei"/>
              </a:rPr>
              <a:t>② 契约驱动协作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776472"/>
            <a:ext cx="4069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19 字段三层守卫 + 批次隔离，6 人并行 0 次字段打架；公开数据集定量验证（CTU-13 精确命中 / APT29 父技术命中）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892040"/>
            <a:ext cx="4069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3F4F6"/>
                </a:solidFill>
                <a:latin typeface="Microsoft YaHei"/>
              </a:rPr>
              <a:t>③ 双重实证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5239512"/>
            <a:ext cx="4069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CA3AF"/>
                </a:solidFill>
                <a:latin typeface="Microsoft YaHei"/>
              </a:rPr>
              <a:t>9 节点靶场完整入侵链实测 + CTU-13 13.9 万会话合规入库，检测器阈值有真实误报修复记录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D3EE"/>
                </a:solidFill>
                <a:latin typeface="Microsoft YaHe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3F4F6"/>
                </a:solidFill>
                <a:latin typeface="Microsoft YaHei"/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对照任务书逐项交付 · 局限与下一步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CA3AF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D3EE"/>
                </a:solidFill>
                <a:latin typeface="Microsoft YaHei"/>
              </a:rPr>
              <a:t>已完成（对照任务书）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✓ 多源采集与融合：主机(B)+网络(C)+防火墙 → Event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✓ 时间对齐 / 范式解析 / 实体提取 / 会话重建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39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✓ 进程行为链 / 文件监控 / 会话异常预标记（B）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59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✓ 流量捕获解析 / 10 检测器 / 隐蔽信道检测（C）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79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✓ ATT&amp;CK 攻击链 9 阶段关联 + 攻击图 + 归因画像（D）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399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✓ 9 节点靶场完整入侵链实测 + 公开数据集双验证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19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✓ 前端 5 页面 + LLM 分析（降级保底）+ Electron 桌面版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9E0B"/>
                </a:solidFill>
                <a:latin typeface="Microsoft YaHei"/>
              </a:rPr>
              <a:t>局限与下一步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内存镜像取证：YARA 扫描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3317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▸ 隐蔽信道：HTTP 隧道建模（DNS/ICMP 已覆盖）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834639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▸ LLM 分析调优：多智能体协作（当前单 LLM+降级）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337559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▸ 与已知 APT 组织 TTP 匹配：本地情报库扩充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840479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▸ 大库性能：分页查询 / 增量加载优化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343399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3F4F6"/>
                </a:solidFill>
                <a:latin typeface="Microsoft YaHei"/>
              </a:rPr>
              <a:t>▸ 打包分发：PyInstaller 后端 + electron-builder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66928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D3EE"/>
                </a:solidFill>
                <a:latin typeface="Microsoft YaHei"/>
              </a:rPr>
              <a:t>一句话总结：本项目用「统一契约 + 多源解析 + ATT&amp;CK 关联 + 证据穿透」把一次真实靶场入侵变成了可回查、可展示、可量化的完整溯源故事——并在 CTU-13 与 APT29 两个公开数据集上完成了定量验证。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F3F4F6"/>
                </a:solidFill>
                <a:latin typeface="Microsoft YaHei"/>
              </a:rPr>
              <a:t>谢谢观看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CA3AF"/>
                </a:solidFill>
                <a:latin typeface="Microsoft YaHei"/>
              </a:rPr>
              <a:t>恶意攻击行为溯源分析系统 · 网络空间安全课程设计 题3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YaHei"/>
              </a:rPr>
              <a:t>运行截图素材：docs/ppt_assets/ · 演示：启动平台.bat → 数据管理页选批次 → 各页面查看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