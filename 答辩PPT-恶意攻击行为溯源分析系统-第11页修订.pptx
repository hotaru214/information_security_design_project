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4" r:id="rId5"/>
    <p:sldId id="263" r:id="rId6"/>
    <p:sldId id="272" r:id="rId7"/>
    <p:sldId id="273" r:id="rId8"/>
    <p:sldId id="264" r:id="rId9"/>
    <p:sldId id="265" r:id="rId10"/>
    <p:sldId id="266" r:id="rId11"/>
    <p:sldId id="267" r:id="rId12"/>
    <p:sldId id="277" r:id="rId13"/>
    <p:sldId id="275" r:id="rId14"/>
    <p:sldId id="276" r:id="rId15"/>
    <p:sldId id="268" r:id="rId16"/>
    <p:sldId id="269" r:id="rId17"/>
    <p:sldId id="270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28"/>
        <p:guide pos="28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Relationship Id="rId5" Type="http://schemas.openxmlformats.org/officeDocument/2006/relationships/tags" Target="../tags/tag13.xml"/><Relationship Id="rId6" Type="http://schemas.openxmlformats.org/officeDocument/2006/relationships/tags" Target="../tags/tag14.xml"/><Relationship Id="rId7" Type="http://schemas.openxmlformats.org/officeDocument/2006/relationships/tags" Target="../tags/tag15.xml"/><Relationship Id="rId8" Type="http://schemas.openxmlformats.org/officeDocument/2006/relationships/tags" Target="../tags/tag16.xml"/><Relationship Id="rId9" Type="http://schemas.openxmlformats.org/officeDocument/2006/relationships/tags" Target="../tags/tag17.xml"/><Relationship Id="rId10" Type="http://schemas.openxmlformats.org/officeDocument/2006/relationships/tags" Target="../tags/tag18.xml"/><Relationship Id="rId11" Type="http://schemas.openxmlformats.org/officeDocument/2006/relationships/tags" Target="../tags/tag19.xml"/><Relationship Id="rId12" Type="http://schemas.openxmlformats.org/officeDocument/2006/relationships/tags" Target="../tags/tag20.xml"/><Relationship Id="rId13" Type="http://schemas.openxmlformats.org/officeDocument/2006/relationships/tags" Target="../tags/tag21.xml"/><Relationship Id="rId14" Type="http://schemas.openxmlformats.org/officeDocument/2006/relationships/tags" Target="../tags/tag22.xml"/><Relationship Id="rId15" Type="http://schemas.openxmlformats.org/officeDocument/2006/relationships/tags" Target="../tags/tag23.xml"/><Relationship Id="rId16" Type="http://schemas.openxmlformats.org/officeDocument/2006/relationships/tags" Target="../tags/tag24.xml"/><Relationship Id="rId17" Type="http://schemas.openxmlformats.org/officeDocument/2006/relationships/tags" Target="../tags/tag25.xml"/><Relationship Id="rId18" Type="http://schemas.openxmlformats.org/officeDocument/2006/relationships/tags" Target="../tags/tag26.xml"/><Relationship Id="rId19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011680" cy="50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91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微软雅黑" panose="020B0503020204020204" charset="-122"/>
              </a:rPr>
              <a:t>网络空间安全课程设计 </a:t>
            </a:r>
            <a:endParaRPr sz="17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1503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>
                <a:solidFill>
                  <a:srgbClr val="1E293B"/>
                </a:solidFill>
                <a:latin typeface="微软雅黑" panose="020B0503020204020204" charset="-122"/>
              </a:rPr>
              <a:t>基于主机日志、主机行为、网络流量的</a:t>
            </a:r>
            <a:endParaRPr sz="3400" b="1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3400" b="1">
                <a:solidFill>
                  <a:srgbClr val="1E293B"/>
                </a:solidFill>
                <a:latin typeface="微软雅黑" panose="020B0503020204020204" charset="-122"/>
              </a:rPr>
              <a:t>恶意攻击行为溯源分析系统设计与实现</a:t>
            </a:r>
            <a:endParaRPr sz="34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515600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284C7"/>
                </a:solidFill>
                <a:latin typeface="微软雅黑" panose="020B0503020204020204" charset="-122"/>
              </a:rPr>
              <a:t>小组成员与分工</a:t>
            </a:r>
            <a:r>
              <a:rPr lang="zh-CN" sz="2000" b="1">
                <a:solidFill>
                  <a:srgbClr val="0284C7"/>
                </a:solidFill>
                <a:latin typeface="微软雅黑" panose="020B0503020204020204" charset="-122"/>
              </a:rPr>
              <a:t>：</a:t>
            </a:r>
            <a:endParaRPr lang="zh-CN" sz="2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95395" y="4343400"/>
            <a:ext cx="4937760" cy="1576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柏思宇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—— 后端 / 数据库 / 契约集成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lang="zh-CN"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李国宁</a:t>
            </a:r>
            <a:r>
              <a:rPr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 —— 主机日志解析（EVTX/Sysmon/auditd）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lang="zh-CN"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赵亮</a:t>
            </a:r>
            <a:r>
              <a:rPr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 —— 网络流量解析（PCAP/Zeek/filterlog）</a:t>
            </a:r>
            <a:endParaRPr sz="14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lang="zh-CN"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孙创辉</a:t>
            </a:r>
            <a:r>
              <a:rPr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 —— 关联分析 / 攻击链 / 归因画像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lang="zh-CN"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苗新运</a:t>
            </a:r>
            <a:r>
              <a:rPr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 —— 靶场构建 / 攻击执行 / 数据交付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lang="zh-CN"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蒋俊豪</a:t>
            </a:r>
            <a:r>
              <a:rPr sz="14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 —— 前端可视化 / LLM 分析报告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E293B"/>
                </a:solidFill>
                <a:latin typeface="微软雅黑" panose="020B0503020204020204" charset="-122"/>
              </a:rPr>
              <a:t>目 录</a:t>
            </a:r>
            <a:endParaRPr sz="3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7240" y="1600200"/>
            <a:ext cx="146304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3281045" y="1795437"/>
            <a:ext cx="877616" cy="515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微软雅黑" panose="020B0503020204020204" charset="-122"/>
              </a:rPr>
              <a:t>01</a:t>
            </a:r>
            <a:endParaRPr sz="24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3281045" y="2819322"/>
            <a:ext cx="877616" cy="515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微软雅黑" panose="020B0503020204020204" charset="-122"/>
              </a:rPr>
              <a:t>0</a:t>
            </a:r>
            <a:r>
              <a:rPr lang="en-US" sz="2400" b="1">
                <a:solidFill>
                  <a:srgbClr val="0284C7"/>
                </a:solidFill>
                <a:latin typeface="微软雅黑" panose="020B0503020204020204" charset="-122"/>
              </a:rPr>
              <a:t>2</a:t>
            </a:r>
            <a:endParaRPr lang="en-US" sz="24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4158661" y="1794795"/>
            <a:ext cx="4485594" cy="515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E293B"/>
                </a:solidFill>
                <a:latin typeface="微软雅黑" panose="020B0503020204020204" charset="-122"/>
              </a:rPr>
              <a:t>靶场构建与实测</a:t>
            </a:r>
            <a:endParaRPr sz="24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3281045" y="3843208"/>
            <a:ext cx="877616" cy="515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微软雅黑" panose="020B0503020204020204" charset="-122"/>
              </a:rPr>
              <a:t>0</a:t>
            </a:r>
            <a:r>
              <a:rPr lang="en-US" sz="2400" b="1">
                <a:solidFill>
                  <a:srgbClr val="0284C7"/>
                </a:solidFill>
                <a:latin typeface="微软雅黑" panose="020B0503020204020204" charset="-122"/>
              </a:rPr>
              <a:t>3</a:t>
            </a:r>
            <a:endParaRPr lang="en-US" sz="24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4158661" y="2818949"/>
            <a:ext cx="4485594" cy="515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E293B"/>
                </a:solidFill>
                <a:latin typeface="微软雅黑" panose="020B0503020204020204" charset="-122"/>
              </a:rPr>
              <a:t>公开数据集实验</a:t>
            </a:r>
            <a:endParaRPr sz="24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4158661" y="3842748"/>
            <a:ext cx="4485594" cy="515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E293B"/>
                </a:solidFill>
                <a:latin typeface="微软雅黑" panose="020B0503020204020204" charset="-122"/>
              </a:rPr>
              <a:t>前端与</a:t>
            </a:r>
            <a:r>
              <a:rPr lang="zh-CN" sz="2400" b="0">
                <a:solidFill>
                  <a:srgbClr val="1E293B"/>
                </a:solidFill>
                <a:latin typeface="微软雅黑" panose="020B0503020204020204" charset="-122"/>
              </a:rPr>
              <a:t>后端</a:t>
            </a:r>
            <a:r>
              <a:rPr sz="2400" b="0">
                <a:solidFill>
                  <a:srgbClr val="1E293B"/>
                </a:solidFill>
                <a:latin typeface="微软雅黑" panose="020B0503020204020204" charset="-122"/>
              </a:rPr>
              <a:t>分析</a:t>
            </a:r>
            <a:endParaRPr sz="24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3281045" y="4867094"/>
            <a:ext cx="877616" cy="515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微软雅黑" panose="020B0503020204020204" charset="-122"/>
              </a:rPr>
              <a:t>0</a:t>
            </a:r>
            <a:r>
              <a:rPr lang="en-US" sz="2400" b="1">
                <a:solidFill>
                  <a:srgbClr val="0284C7"/>
                </a:solidFill>
                <a:latin typeface="微软雅黑" panose="020B0503020204020204" charset="-122"/>
              </a:rPr>
              <a:t>4</a:t>
            </a:r>
            <a:endParaRPr lang="en-US" sz="24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8"/>
            </p:custDataLst>
          </p:nvPr>
        </p:nvSpPr>
        <p:spPr>
          <a:xfrm>
            <a:off x="4158661" y="4867182"/>
            <a:ext cx="4485594" cy="515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E293B"/>
                </a:solidFill>
                <a:latin typeface="微软雅黑" panose="020B0503020204020204" charset="-122"/>
              </a:rPr>
              <a:t>平台成果与开源对比</a:t>
            </a:r>
            <a:endParaRPr sz="24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系统总体架构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组合 32"/>
          <p:cNvGrpSpPr/>
          <p:nvPr>
            <p:custDataLst>
              <p:tags r:id="rId1"/>
            </p:custDataLst>
          </p:nvPr>
        </p:nvGrpSpPr>
        <p:grpSpPr>
          <a:xfrm>
            <a:off x="494030" y="2813685"/>
            <a:ext cx="1948414" cy="1642745"/>
            <a:chOff x="778" y="4431"/>
            <a:chExt cx="3326" cy="2736"/>
          </a:xfrm>
        </p:grpSpPr>
        <p:sp>
          <p:nvSpPr>
            <p:cNvPr id="8" name="Rectangle 7"/>
            <p:cNvSpPr/>
            <p:nvPr>
              <p:custDataLst>
                <p:tags r:id="rId2"/>
              </p:custDataLst>
            </p:nvPr>
          </p:nvSpPr>
          <p:spPr>
            <a:xfrm>
              <a:off x="778" y="4431"/>
              <a:ext cx="3326" cy="27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>
              <p:custDataLst>
                <p:tags r:id="rId3"/>
              </p:custDataLst>
            </p:nvPr>
          </p:nvSpPr>
          <p:spPr>
            <a:xfrm>
              <a:off x="994" y="4719"/>
              <a:ext cx="2952" cy="74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7C3AED"/>
                  </a:solidFill>
                  <a:latin typeface="微软雅黑" panose="020B0503020204020204" charset="-122"/>
                </a:rPr>
                <a:t>E 靶场 / 数据</a:t>
              </a:r>
              <a:endParaRPr sz="2000" b="1">
                <a:solidFill>
                  <a:srgbClr val="7C3AED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0" name="TextBox 9"/>
            <p:cNvSpPr txBox="1"/>
            <p:nvPr>
              <p:custDataLst>
                <p:tags r:id="rId4"/>
              </p:custDataLst>
            </p:nvPr>
          </p:nvSpPr>
          <p:spPr>
            <a:xfrm>
              <a:off x="994" y="5583"/>
              <a:ext cx="3109" cy="978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9 节点三段式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4 抓包点+防火墙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5"/>
            </p:custDataLst>
          </p:nvPr>
        </p:nvGrpSpPr>
        <p:grpSpPr>
          <a:xfrm>
            <a:off x="6109462" y="1306195"/>
            <a:ext cx="2112264" cy="1737360"/>
            <a:chOff x="4529" y="2907"/>
            <a:chExt cx="3326" cy="2736"/>
          </a:xfrm>
        </p:grpSpPr>
        <p:sp>
          <p:nvSpPr>
            <p:cNvPr id="11" name="Rectangle 10"/>
            <p:cNvSpPr/>
            <p:nvPr>
              <p:custDataLst>
                <p:tags r:id="rId6"/>
              </p:custDataLst>
            </p:nvPr>
          </p:nvSpPr>
          <p:spPr>
            <a:xfrm>
              <a:off x="4529" y="2907"/>
              <a:ext cx="3326" cy="27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4637" y="3175"/>
              <a:ext cx="3111" cy="70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0284C7"/>
                  </a:solidFill>
                  <a:latin typeface="微软雅黑" panose="020B0503020204020204" charset="-122"/>
                </a:rPr>
                <a:t>B 主机日志解析</a:t>
              </a:r>
              <a:endParaRPr sz="2000" b="1">
                <a:solidFill>
                  <a:srgbClr val="0284C7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3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4795" y="4151"/>
              <a:ext cx="2952" cy="131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EVTX / Sysmon / auditd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31 种事件类型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9"/>
            </p:custDataLst>
          </p:nvPr>
        </p:nvGrpSpPr>
        <p:grpSpPr>
          <a:xfrm>
            <a:off x="6112764" y="3763645"/>
            <a:ext cx="2112264" cy="1737360"/>
            <a:chOff x="8064" y="4431"/>
            <a:chExt cx="3326" cy="2736"/>
          </a:xfrm>
        </p:grpSpPr>
        <p:sp>
          <p:nvSpPr>
            <p:cNvPr id="14" name="Rectangle 13"/>
            <p:cNvSpPr/>
            <p:nvPr>
              <p:custDataLst>
                <p:tags r:id="rId10"/>
              </p:custDataLst>
            </p:nvPr>
          </p:nvSpPr>
          <p:spPr>
            <a:xfrm>
              <a:off x="8064" y="4431"/>
              <a:ext cx="3326" cy="27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>
              <p:custDataLst>
                <p:tags r:id="rId11"/>
              </p:custDataLst>
            </p:nvPr>
          </p:nvSpPr>
          <p:spPr>
            <a:xfrm>
              <a:off x="8172" y="4719"/>
              <a:ext cx="3208" cy="70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059669"/>
                  </a:solidFill>
                  <a:latin typeface="微软雅黑" panose="020B0503020204020204" charset="-122"/>
                </a:rPr>
                <a:t>C 网络流量解析</a:t>
              </a:r>
              <a:endParaRPr sz="2000" b="1">
                <a:solidFill>
                  <a:srgbClr val="059669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6" name="TextBox 15"/>
            <p:cNvSpPr txBox="1"/>
            <p:nvPr>
              <p:custDataLst>
                <p:tags r:id="rId12"/>
              </p:custDataLst>
            </p:nvPr>
          </p:nvSpPr>
          <p:spPr>
            <a:xfrm>
              <a:off x="8280" y="5583"/>
              <a:ext cx="2952" cy="131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PCAP / Zeek / filterlog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10 检测器→ATT&amp;CK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462416" y="2813685"/>
            <a:ext cx="1982073" cy="1642745"/>
            <a:chOff x="11708" y="4431"/>
            <a:chExt cx="3326" cy="2736"/>
          </a:xfrm>
        </p:grpSpPr>
        <p:sp>
          <p:nvSpPr>
            <p:cNvPr id="17" name="Rectangle 16"/>
            <p:cNvSpPr/>
            <p:nvPr>
              <p:custDataLst>
                <p:tags r:id="rId13"/>
              </p:custDataLst>
            </p:nvPr>
          </p:nvSpPr>
          <p:spPr>
            <a:xfrm>
              <a:off x="11708" y="4431"/>
              <a:ext cx="3326" cy="27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>
              <p:custDataLst>
                <p:tags r:id="rId14"/>
              </p:custDataLst>
            </p:nvPr>
          </p:nvSpPr>
          <p:spPr>
            <a:xfrm>
              <a:off x="11758" y="4719"/>
              <a:ext cx="3141" cy="74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D97706"/>
                  </a:solidFill>
                  <a:latin typeface="微软雅黑" panose="020B0503020204020204" charset="-122"/>
                </a:rPr>
                <a:t>A 后端 + 契约</a:t>
              </a:r>
              <a:endParaRPr sz="2000" b="1">
                <a:solidFill>
                  <a:srgbClr val="D97706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9" name="TextBox 18"/>
            <p:cNvSpPr txBox="1"/>
            <p:nvPr>
              <p:custDataLst>
                <p:tags r:id="rId15"/>
              </p:custDataLst>
            </p:nvPr>
          </p:nvSpPr>
          <p:spPr>
            <a:xfrm>
              <a:off x="11924" y="5583"/>
              <a:ext cx="2952" cy="97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FastAPI + SQLite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Event V2 · 19 字段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974328" y="2676525"/>
            <a:ext cx="2112264" cy="1737360"/>
            <a:chOff x="15351" y="4431"/>
            <a:chExt cx="3326" cy="2736"/>
          </a:xfrm>
        </p:grpSpPr>
        <p:sp>
          <p:nvSpPr>
            <p:cNvPr id="20" name="Rectangle 19"/>
            <p:cNvSpPr/>
            <p:nvPr>
              <p:custDataLst>
                <p:tags r:id="rId16"/>
              </p:custDataLst>
            </p:nvPr>
          </p:nvSpPr>
          <p:spPr>
            <a:xfrm>
              <a:off x="15351" y="4431"/>
              <a:ext cx="3326" cy="27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>
              <p:custDataLst>
                <p:tags r:id="rId17"/>
              </p:custDataLst>
            </p:nvPr>
          </p:nvSpPr>
          <p:spPr>
            <a:xfrm>
              <a:off x="15567" y="4719"/>
              <a:ext cx="2952" cy="70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DC2626"/>
                  </a:solidFill>
                  <a:latin typeface="微软雅黑" panose="020B0503020204020204" charset="-122"/>
                </a:rPr>
                <a:t>D 关联分析</a:t>
              </a:r>
              <a:endParaRPr sz="2000" b="1">
                <a:solidFill>
                  <a:srgbClr val="DC2626"/>
                </a:solidFill>
                <a:latin typeface="微软雅黑" panose="020B0503020204020204" charset="-122"/>
              </a:endParaRPr>
            </a:p>
          </p:txBody>
        </p:sp>
        <p:sp>
          <p:nvSpPr>
            <p:cNvPr id="22" name="TextBox 21"/>
            <p:cNvSpPr txBox="1"/>
            <p:nvPr>
              <p:custDataLst>
                <p:tags r:id="rId18"/>
              </p:custDataLst>
            </p:nvPr>
          </p:nvSpPr>
          <p:spPr>
            <a:xfrm>
              <a:off x="15567" y="5583"/>
              <a:ext cx="2952" cy="92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9 阶段 · 12 技术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  <a:p>
              <a:pPr algn="l">
                <a:lnSpc>
                  <a:spcPct val="115000"/>
                </a:lnSpc>
              </a:pPr>
              <a:r>
                <a:rPr sz="1400" b="0">
                  <a:solidFill>
                    <a:schemeClr val="tx1"/>
                  </a:solidFill>
                  <a:latin typeface="微软雅黑" panose="020B0503020204020204" charset="-122"/>
                </a:rPr>
                <a:t>攻击图 + 归因画像</a:t>
              </a:r>
              <a:endParaRPr sz="1400" b="0">
                <a:solidFill>
                  <a:schemeClr val="tx1"/>
                </a:solidFill>
                <a:latin typeface="微软雅黑" panose="020B0503020204020204" charset="-122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11480" y="5368290"/>
            <a:ext cx="127952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93B"/>
                </a:solidFill>
                <a:latin typeface="微软雅黑" panose="020B0503020204020204" charset="-122"/>
              </a:rPr>
              <a:t>技术栈</a:t>
            </a:r>
            <a:r>
              <a:rPr lang="zh-CN" sz="1500" b="1">
                <a:solidFill>
                  <a:srgbClr val="1E293B"/>
                </a:solidFill>
                <a:latin typeface="微软雅黑" panose="020B0503020204020204" charset="-122"/>
              </a:rPr>
              <a:t>：</a:t>
            </a:r>
            <a:endParaRPr lang="zh-CN" sz="15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2165" y="5953760"/>
            <a:ext cx="10058400" cy="680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</a:rPr>
              <a:t>Python 3.13 · FastAPI · SQLite · scapy · python-evtx · ECharts · Electron · LLM（DeepSeek/千问/GLM ）</a:t>
            </a:r>
            <a:endParaRPr sz="1400" b="1">
              <a:solidFill>
                <a:schemeClr val="tx1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</a:rPr>
              <a:t>203 个自动化测试 · 三层契约守卫</a:t>
            </a:r>
            <a:endParaRPr sz="1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2513330" y="3545205"/>
            <a:ext cx="8026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5444490" y="3043555"/>
            <a:ext cx="664845" cy="456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5430520" y="3526790"/>
            <a:ext cx="704850" cy="236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8221980" y="2996565"/>
            <a:ext cx="752475" cy="3289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endCxn id="20" idx="1"/>
          </p:cNvCxnSpPr>
          <p:nvPr/>
        </p:nvCxnSpPr>
        <p:spPr>
          <a:xfrm flipV="1">
            <a:off x="8249920" y="3545205"/>
            <a:ext cx="724535" cy="319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622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微软雅黑" panose="020B0503020204020204" charset="-122"/>
              </a:rPr>
              <a:t>0</a:t>
            </a:r>
            <a:r>
              <a:rPr lang="en-US" sz="3000" b="1">
                <a:solidFill>
                  <a:srgbClr val="0284C7"/>
                </a:solidFill>
                <a:latin typeface="微软雅黑" panose="020B0503020204020204" charset="-122"/>
              </a:rPr>
              <a:t>1</a:t>
            </a:r>
            <a:endParaRPr lang="en-US" sz="3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VMware 隔离 · OPNsense 三接口分段 · 完整入侵链由攻击机一手触发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185"/>
            <a:ext cx="10139045" cy="42799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284C7"/>
                </a:solidFill>
                <a:latin typeface="Consolas" panose="020B0609020204030204"/>
              </a:rPr>
              <a:t>WAN 10.10.10.0/24（攻击机·C2）  →  DMZ 10.10.20.0/24（Web·Email）  →  LAN 10.10.30.0/24（Win10·Core）</a:t>
            </a:r>
            <a:endParaRPr sz="1350" b="1">
              <a:solidFill>
                <a:srgbClr val="0284C7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1536192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65376"/>
            <a:ext cx="1536192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DC2626"/>
                </a:solidFill>
                <a:latin typeface="微软雅黑" panose="020B0503020204020204" charset="-122"/>
              </a:rPr>
              <a:t>攻击机</a:t>
            </a:r>
            <a:endParaRPr sz="20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2267712"/>
            <a:ext cx="1536192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 panose="020B0609020204030204"/>
              </a:rPr>
              <a:t>10.10.</a:t>
            </a:r>
            <a:r>
              <a:rPr sz="1200" b="0">
                <a:solidFill>
                  <a:srgbClr val="64748B"/>
                </a:solidFill>
                <a:latin typeface="Consolas" panose="020B0609020204030204"/>
              </a:rPr>
              <a:t>10</a:t>
            </a:r>
            <a:r>
              <a:rPr sz="1000" b="0">
                <a:solidFill>
                  <a:srgbClr val="64748B"/>
                </a:solidFill>
                <a:latin typeface="Consolas" panose="020B0609020204030204"/>
              </a:rPr>
              <a:t>.10</a:t>
            </a:r>
            <a:endParaRPr sz="10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84832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1865376"/>
            <a:ext cx="1536192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BE185D"/>
                </a:solidFill>
                <a:latin typeface="微软雅黑" panose="020B0503020204020204" charset="-122"/>
              </a:rPr>
              <a:t>C2 服务器</a:t>
            </a:r>
            <a:endParaRPr sz="2000" b="1">
              <a:solidFill>
                <a:srgbClr val="BE185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84832" y="2267712"/>
            <a:ext cx="1536192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onsolas" panose="020B0609020204030204"/>
              </a:rPr>
              <a:t>10.10.10.20</a:t>
            </a:r>
            <a:endParaRPr sz="12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58184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1865376"/>
            <a:ext cx="1536192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D97706"/>
                </a:solidFill>
                <a:latin typeface="微软雅黑" panose="020B0503020204020204" charset="-122"/>
              </a:rPr>
              <a:t>OPNsense</a:t>
            </a:r>
            <a:endParaRPr sz="20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58184" y="2267712"/>
            <a:ext cx="1536192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onsolas" panose="020B0609020204030204"/>
              </a:rPr>
              <a:t>三接口</a:t>
            </a:r>
            <a:endParaRPr sz="12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31536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6860" y="1865630"/>
            <a:ext cx="1685925" cy="72199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284C7"/>
                </a:solidFill>
                <a:latin typeface="微软雅黑" panose="020B0503020204020204" charset="-122"/>
              </a:rPr>
              <a:t>Web (DVWA)</a:t>
            </a:r>
            <a:endParaRPr sz="2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104888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1865376"/>
            <a:ext cx="1536192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284C7"/>
                </a:solidFill>
                <a:latin typeface="微软雅黑" panose="020B0503020204020204" charset="-122"/>
              </a:rPr>
              <a:t>Email</a:t>
            </a:r>
            <a:endParaRPr sz="2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04888" y="2267712"/>
            <a:ext cx="1536192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onsolas" panose="020B0609020204030204"/>
              </a:rPr>
              <a:t>10.10.20.20</a:t>
            </a:r>
            <a:endParaRPr sz="12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778240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1865630"/>
            <a:ext cx="1885315" cy="70548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59669"/>
                </a:solidFill>
                <a:latin typeface="微软雅黑" panose="020B0503020204020204" charset="-122"/>
              </a:rPr>
              <a:t>Win10 跳板</a:t>
            </a:r>
            <a:endParaRPr sz="20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8240" y="2267712"/>
            <a:ext cx="1536192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onsolas" panose="020B0609020204030204"/>
              </a:rPr>
              <a:t>10.10.30.10</a:t>
            </a:r>
            <a:endParaRPr sz="12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451592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51592" y="1865376"/>
            <a:ext cx="1536192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59669"/>
                </a:solidFill>
                <a:latin typeface="微软雅黑" panose="020B0503020204020204" charset="-122"/>
              </a:rPr>
              <a:t>Core</a:t>
            </a:r>
            <a:endParaRPr sz="20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1592" y="2267712"/>
            <a:ext cx="1536192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onsolas" panose="020B0609020204030204"/>
              </a:rPr>
              <a:t>10.10.30.20</a:t>
            </a:r>
            <a:endParaRPr sz="12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50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E 靶场构建 · 9 节点三段式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02895" y="3837305"/>
            <a:ext cx="11538585" cy="2744470"/>
            <a:chOff x="291" y="5638"/>
            <a:chExt cx="18171" cy="4322"/>
          </a:xfrm>
        </p:grpSpPr>
        <p:sp>
          <p:nvSpPr>
            <p:cNvPr id="30" name="TextBox 29"/>
            <p:cNvSpPr txBox="1"/>
            <p:nvPr/>
          </p:nvSpPr>
          <p:spPr>
            <a:xfrm>
              <a:off x="647" y="5818"/>
              <a:ext cx="2420" cy="718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l">
                <a:lnSpc>
                  <a:spcPct val="115000"/>
                </a:lnSpc>
              </a:pPr>
              <a:r>
                <a:rPr b="1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攻击链剧本</a:t>
              </a:r>
              <a:r>
                <a:rPr lang="zh-CN" b="1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endParaRPr lang="zh-CN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91" y="7055"/>
              <a:ext cx="4246" cy="856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sz="1600" b="1">
                  <a:solidFill>
                    <a:srgbClr val="0284C7"/>
                  </a:solidFill>
                  <a:latin typeface="微软雅黑" panose="020B0503020204020204" charset="-122"/>
                  <a:sym typeface="+mn-ea"/>
                </a:rPr>
                <a:t>①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nmap 隐蔽扫描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 6 端口 × 4 目标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94" y="5638"/>
              <a:ext cx="2859" cy="935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sz="1600" b="1">
                  <a:solidFill>
                    <a:srgbClr val="0284C7"/>
                  </a:solidFill>
                  <a:latin typeface="微软雅黑" panose="020B0503020204020204" charset="-122"/>
                  <a:sym typeface="+mn-ea"/>
                </a:rPr>
                <a:t>②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ZAP 主动扫描 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DVWA（8088）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852" y="5688"/>
              <a:ext cx="3340" cy="985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sz="1600" b="1">
                  <a:solidFill>
                    <a:srgbClr val="0284C7"/>
                  </a:solidFill>
                  <a:latin typeface="微软雅黑" panose="020B0503020204020204" charset="-122"/>
                  <a:sym typeface="+mn-ea"/>
                </a:rPr>
                <a:t>③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DVWA 命令注入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 getshell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4906" y="6706"/>
              <a:ext cx="3557" cy="1205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sz="1600" b="1">
                  <a:solidFill>
                    <a:srgbClr val="0284C7"/>
                  </a:solidFill>
                  <a:latin typeface="微软雅黑" panose="020B0503020204020204" charset="-122"/>
                  <a:sym typeface="+mn-ea"/>
                </a:rPr>
                <a:t>④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SSH 跳板：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Web → Win10（22）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734" y="8868"/>
              <a:ext cx="3756" cy="1092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sz="1600" b="1">
                  <a:solidFill>
                    <a:srgbClr val="0284C7"/>
                  </a:solidFill>
                  <a:latin typeface="微软雅黑" panose="020B0503020204020204" charset="-122"/>
                  <a:sym typeface="+mn-ea"/>
                </a:rPr>
                <a:t>⑤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Win10 → Core:9100 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取敏感文件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27" y="8937"/>
              <a:ext cx="4389" cy="981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sz="1600" b="1">
                  <a:solidFill>
                    <a:srgbClr val="0284C7"/>
                  </a:solidFill>
                  <a:latin typeface="微软雅黑" panose="020B0503020204020204" charset="-122"/>
                  <a:sym typeface="+mn-ea"/>
                </a:rPr>
                <a:t>⑥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Win10 回连 C2:8080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</a:rPr>
                <a:t>发 beacon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</a:endParaRPr>
            </a:p>
          </p:txBody>
        </p:sp>
        <p:sp>
          <p:nvSpPr>
            <p:cNvPr id="51" name="右箭头 50"/>
            <p:cNvSpPr/>
            <p:nvPr/>
          </p:nvSpPr>
          <p:spPr>
            <a:xfrm rot="19740000">
              <a:off x="4050" y="6419"/>
              <a:ext cx="1298" cy="537"/>
            </a:xfrm>
            <a:prstGeom prst="rightArrow">
              <a:avLst>
                <a:gd name="adj1" fmla="val 41699"/>
                <a:gd name="adj2" fmla="val 107729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2" name="右箭头 51"/>
            <p:cNvSpPr/>
            <p:nvPr/>
          </p:nvSpPr>
          <p:spPr>
            <a:xfrm>
              <a:off x="8554" y="5852"/>
              <a:ext cx="1298" cy="537"/>
            </a:xfrm>
            <a:prstGeom prst="rightArrow">
              <a:avLst>
                <a:gd name="adj1" fmla="val 41699"/>
                <a:gd name="adj2" fmla="val 107729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3" name="右箭头 52"/>
            <p:cNvSpPr/>
            <p:nvPr/>
          </p:nvSpPr>
          <p:spPr>
            <a:xfrm rot="8580000">
              <a:off x="13577" y="8580"/>
              <a:ext cx="1298" cy="537"/>
            </a:xfrm>
            <a:prstGeom prst="rightArrow">
              <a:avLst>
                <a:gd name="adj1" fmla="val 41699"/>
                <a:gd name="adj2" fmla="val 107729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4" name="右箭头 53"/>
            <p:cNvSpPr/>
            <p:nvPr/>
          </p:nvSpPr>
          <p:spPr>
            <a:xfrm rot="1740000">
              <a:off x="13400" y="6203"/>
              <a:ext cx="1298" cy="537"/>
            </a:xfrm>
            <a:prstGeom prst="rightArrow">
              <a:avLst>
                <a:gd name="adj1" fmla="val 41699"/>
                <a:gd name="adj2" fmla="val 107729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4" name="右箭头 3"/>
            <p:cNvSpPr/>
            <p:nvPr/>
          </p:nvSpPr>
          <p:spPr>
            <a:xfrm rot="10800000">
              <a:off x="8436" y="8937"/>
              <a:ext cx="1298" cy="537"/>
            </a:xfrm>
            <a:prstGeom prst="rightArrow">
              <a:avLst>
                <a:gd name="adj1" fmla="val 41699"/>
                <a:gd name="adj2" fmla="val 107729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3"/>
          <p:cNvSpPr txBox="1"/>
          <p:nvPr/>
        </p:nvSpPr>
        <p:spPr>
          <a:xfrm>
            <a:off x="960120" y="274320"/>
            <a:ext cx="10058400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>
                <a:latin typeface="微软雅黑" panose="020B0503020204020204" charset="-122"/>
                <a:sym typeface="+mn-ea"/>
              </a:rPr>
              <a:t>证据留存：4 抓包点 pcap + filter.log + 全节点日志 + 攻击侧报告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pic>
        <p:nvPicPr>
          <p:cNvPr id="4" name="图片 3" descr="range_c2_setup"/>
          <p:cNvPicPr>
            <a:picLocks noChangeAspect="1"/>
          </p:cNvPicPr>
          <p:nvPr/>
        </p:nvPicPr>
        <p:blipFill>
          <a:blip r:embed="rId1"/>
          <a:srcRect b="46704"/>
          <a:stretch>
            <a:fillRect/>
          </a:stretch>
        </p:blipFill>
        <p:spPr>
          <a:xfrm>
            <a:off x="0" y="1285240"/>
            <a:ext cx="11448415" cy="2513330"/>
          </a:xfrm>
          <a:prstGeom prst="rect">
            <a:avLst/>
          </a:prstGeom>
        </p:spPr>
      </p:pic>
      <p:pic>
        <p:nvPicPr>
          <p:cNvPr id="6" name="Picture 43" descr="range_zap.png"/>
          <p:cNvPicPr>
            <a:picLocks noChangeAspect="1"/>
          </p:cNvPicPr>
          <p:nvPr/>
        </p:nvPicPr>
        <p:blipFill>
          <a:blip r:embed="rId2"/>
          <a:srcRect l="19089" b="4653"/>
          <a:stretch>
            <a:fillRect/>
          </a:stretch>
        </p:blipFill>
        <p:spPr>
          <a:xfrm>
            <a:off x="5663565" y="2628265"/>
            <a:ext cx="6630670" cy="4229735"/>
          </a:xfrm>
          <a:prstGeom prst="rect">
            <a:avLst/>
          </a:prstGeom>
        </p:spPr>
      </p:pic>
      <p:sp>
        <p:nvSpPr>
          <p:cNvPr id="7" name="TextBox 44"/>
          <p:cNvSpPr txBox="1"/>
          <p:nvPr/>
        </p:nvSpPr>
        <p:spPr>
          <a:xfrm>
            <a:off x="4005580" y="6333363"/>
            <a:ext cx="3246120" cy="40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>
                <a:solidFill>
                  <a:schemeClr val="tx1"/>
                </a:solidFill>
                <a:latin typeface="微软雅黑" panose="020B0503020204020204" charset="-122"/>
              </a:rPr>
              <a:t>ZAP 扫描 DVWA 实拍</a:t>
            </a:r>
            <a:endParaRPr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24585" y="4025265"/>
            <a:ext cx="2016760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DVWA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靶场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ange_dvwa.png"/>
          <p:cNvPicPr>
            <a:picLocks noChangeAspect="1"/>
          </p:cNvPicPr>
          <p:nvPr/>
        </p:nvPicPr>
        <p:blipFill>
          <a:blip r:embed="rId1"/>
          <a:srcRect r="539" b="386"/>
          <a:stretch>
            <a:fillRect/>
          </a:stretch>
        </p:blipFill>
        <p:spPr>
          <a:xfrm>
            <a:off x="0" y="1442720"/>
            <a:ext cx="5060315" cy="5415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98190" y="5633085"/>
            <a:ext cx="1556385" cy="384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b="0">
                <a:solidFill>
                  <a:schemeClr val="tx1"/>
                </a:solidFill>
                <a:latin typeface="微软雅黑" panose="020B0503020204020204" charset="-122"/>
              </a:rPr>
              <a:t>溯源分析系统</a:t>
            </a:r>
            <a:endParaRPr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960120" y="274320"/>
            <a:ext cx="10058400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>
                <a:latin typeface="微软雅黑" panose="020B0503020204020204" charset="-122"/>
                <a:sym typeface="+mn-ea"/>
              </a:rPr>
              <a:t>证据留存：4 抓包点 pcap + filter.log + 全节点日志 + 攻击侧报告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45" descr="range_n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440" y="1755140"/>
            <a:ext cx="5749925" cy="5102860"/>
          </a:xfrm>
          <a:prstGeom prst="rect">
            <a:avLst/>
          </a:prstGeom>
        </p:spPr>
      </p:pic>
      <p:sp>
        <p:nvSpPr>
          <p:cNvPr id="8" name="TextBox 47"/>
          <p:cNvSpPr txBox="1"/>
          <p:nvPr/>
        </p:nvSpPr>
        <p:spPr>
          <a:xfrm>
            <a:off x="9578975" y="4124325"/>
            <a:ext cx="2705735" cy="384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b="0">
                <a:solidFill>
                  <a:schemeClr val="bg1"/>
                </a:solidFill>
                <a:latin typeface="微软雅黑" panose="020B0503020204020204" charset="-122"/>
              </a:rPr>
              <a:t>nmap / DVWA 实拍</a:t>
            </a:r>
            <a:endParaRPr b="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靶场实测 · 剧本 vs 检出对照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212080" cy="40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0284C7"/>
                </a:solidFill>
                <a:latin typeface="微软雅黑" panose="020B0503020204020204" charset="-122"/>
              </a:rPr>
              <a:t>网络侧自动检出</a:t>
            </a:r>
            <a:endParaRPr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30352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③ 命令注入   →   T1190 · 4 告警 + 入侵点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530352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④ SSH 跳板   →   T1021 · 13 告警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163824"/>
            <a:ext cx="530352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⑤ Core:9100   →   5 个会话事件化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694176"/>
            <a:ext cx="530352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⑥ C2 beacon   →   事件化 + 防火墙记录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224528"/>
            <a:ext cx="530352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① nmap 6 端口   →   低于阈值 → 如实不告警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30352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filterlog 588 条   →   action/rule_id 进 detail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530352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微软雅黑" panose="020B0503020204020204" charset="-122"/>
              </a:rPr>
              <a:t>720 条全过契约 → 攻击链 47 步</a:t>
            </a:r>
            <a:endParaRPr sz="16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pic>
        <p:nvPicPr>
          <p:cNvPr id="17" name="Picture 16" descr="shot_chain_ecase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1138555"/>
            <a:ext cx="5486400" cy="3086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56375" y="4224655"/>
            <a:ext cx="548640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</a:rPr>
              <a:t>攻击链页面：阶段分列布局，点击环节穿透原始证据</a:t>
            </a:r>
            <a:endParaRPr sz="1200"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pic>
        <p:nvPicPr>
          <p:cNvPr id="19" name="Picture 18" descr="shot_dashboard_ecas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930" y="4576445"/>
            <a:ext cx="4128135" cy="2322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622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微软雅黑" panose="020B0503020204020204" charset="-122"/>
              </a:rPr>
              <a:t>0</a:t>
            </a:r>
            <a:r>
              <a:rPr lang="en-US" sz="3000" b="1">
                <a:solidFill>
                  <a:srgbClr val="0284C7"/>
                </a:solidFill>
                <a:latin typeface="微软雅黑" panose="020B0503020204020204" charset="-122"/>
              </a:rPr>
              <a:t>2</a:t>
            </a:r>
            <a:endParaRPr lang="en-US" sz="3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公开数据集实验 ① CTU-13 僵尸网络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577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微软雅黑" panose="020B0503020204020204" charset="-122"/>
              </a:rPr>
              <a:t>Stratosphere IPS · Neris 场景 2</a:t>
            </a:r>
            <a:endParaRPr sz="16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2513330"/>
            <a:ext cx="5212080" cy="17043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✓ 139,195 会话全量合规入库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ground truth：感染主机 SARUMAN 精确命中</a:t>
            </a:r>
            <a:endParaRPr sz="1600">
              <a:solidFill>
                <a:srgbClr val="1E293B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CC 轮询新规则：1 告警 0 误报</a:t>
            </a:r>
            <a:endParaRPr sz="1600">
              <a:solidFill>
                <a:srgbClr val="1E293B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误报修复：1354 → 16 条</a:t>
            </a:r>
            <a:endParaRPr sz="1600">
              <a:solidFill>
                <a:srgbClr val="1E293B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交付 D：EventOut 1,215 条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61030" y="5908040"/>
            <a:ext cx="4536440" cy="3733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706"/>
                </a:solidFill>
                <a:latin typeface="微软雅黑" panose="020B0503020204020204" charset="-122"/>
              </a:rPr>
              <a:t>结论：网络单源检测的精确率边界被定量测出</a:t>
            </a:r>
            <a:endParaRPr sz="16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pic>
        <p:nvPicPr>
          <p:cNvPr id="17" name="Picture 16" descr="shot_dashboard_ctu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6225" y="1183640"/>
            <a:ext cx="6835140" cy="3845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公开数据集实验 ② APT29 Evaluations Day1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029200" cy="40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0284C7"/>
                </a:solidFill>
                <a:latin typeface="微软雅黑" panose="020B0503020204020204" charset="-122"/>
              </a:rPr>
              <a:t>检出结果（B 主机侧 667 条 EventOut）</a:t>
            </a:r>
            <a:endParaRPr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343150"/>
            <a:ext cx="5120640" cy="15049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✓ 真实环境主机名覆盖 98.5%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父技术命中 T1048.003（WebDAV 外传）</a:t>
            </a:r>
            <a:endParaRPr sz="1600">
              <a:solidFill>
                <a:srgbClr val="1E293B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GT 之外发现真实 C2：footprintdns.com</a:t>
            </a:r>
            <a:endParaRPr sz="1600">
              <a:solidFill>
                <a:srgbClr val="1E293B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48 条内网横向（T1021）与剧本一致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未命中 15/19 均为主机侧行为</a:t>
            </a:r>
            <a:endParaRPr sz="1600" b="0">
              <a:solidFill>
                <a:srgbClr val="1E293B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5002530"/>
            <a:ext cx="5120640" cy="338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706"/>
                </a:solidFill>
                <a:latin typeface="微软雅黑" panose="020B0503020204020204" charset="-122"/>
              </a:rPr>
              <a:t>→ 单靠网络流量覆盖不了这些技术，多源融合是刚需</a:t>
            </a:r>
            <a:endParaRPr sz="14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07630" y="5407660"/>
            <a:ext cx="3794125" cy="4089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706"/>
                </a:solidFill>
                <a:latin typeface="微软雅黑" panose="020B0503020204020204" charset="-122"/>
              </a:rPr>
              <a:t>每个结论都可穿透到原始事件佐证</a:t>
            </a:r>
            <a:endParaRPr sz="14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0300" y="1371600"/>
            <a:ext cx="7251700" cy="3293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622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000" b="1">
                <a:solidFill>
                  <a:srgbClr val="0284C7"/>
                </a:solidFill>
                <a:latin typeface="微软雅黑" panose="020B0503020204020204" charset="-122"/>
              </a:rPr>
              <a:t>03</a:t>
            </a:r>
            <a:endParaRPr lang="en-US" sz="3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前端与</a:t>
            </a:r>
            <a:r>
              <a:rPr lang="zh-CN" sz="2600" b="1">
                <a:solidFill>
                  <a:srgbClr val="1E293B"/>
                </a:solidFill>
                <a:latin typeface="微软雅黑" panose="020B0503020204020204" charset="-122"/>
              </a:rPr>
              <a:t>后端</a:t>
            </a: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分析报告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repo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6949440" cy="39090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440680"/>
            <a:ext cx="69494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分析报告页实测：LLM 攻击路径 + 关键证据表（可穿透原始事件）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2062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600200"/>
            <a:ext cx="3749039" cy="40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0284C7"/>
                </a:solidFill>
                <a:latin typeface="微软雅黑" panose="020B0503020204020204" charset="-122"/>
              </a:rPr>
              <a:t>5 个页面</a:t>
            </a:r>
            <a:endParaRPr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18120" y="2011680"/>
            <a:ext cx="3794760" cy="656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Dashboard · 攻击时间线 · 攻击链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分析报告 · 数据管理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8120" y="3063240"/>
            <a:ext cx="3749039" cy="40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0284C7"/>
                </a:solidFill>
                <a:latin typeface="微软雅黑" panose="020B0503020204020204" charset="-122"/>
              </a:rPr>
              <a:t>LLM 管线</a:t>
            </a:r>
            <a:endParaRPr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0" cy="939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✓ 过滤 → D 引擎 → LLM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失败自动规则降级，永远 200</a:t>
            </a:r>
            <a:endParaRPr sz="1600">
              <a:solidFill>
                <a:srgbClr val="1E293B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sym typeface="+mn-ea"/>
              </a:rPr>
              <a:t>✓ 断网可 mock 数据独立演示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18120" y="5308600"/>
            <a:ext cx="3840480" cy="656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Live / Demo 严格分层，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页脚一键切换演示数据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核心模块实现 · 采集与解析（B / C）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题3 · 溯源分析系统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0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微软雅黑" panose="020B0503020204020204" charset="-122"/>
              </a:rPr>
              <a:t>B · 主机日志解析</a:t>
            </a:r>
            <a:endParaRPr sz="18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5 类输入：EVTX / Sysmon EVTX+JSON / auth / auditd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862072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31 种标准事件类型，时间统一 UTC+8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575304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登录会话重建：4624/4634/4647 配对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4288536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异常预标记 5 规则：实测标记 9 条（爆破×3·远程下载×6）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5001768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实测：47,195 条事件一次通过契约校验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548640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微软雅黑" panose="020B0503020204020204" charset="-122"/>
              </a:rPr>
              <a:t>C · 网络流量解析</a:t>
            </a:r>
            <a:endParaRPr sz="18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4 类输入：PCAP · Zeek · filterlog · CSV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2862072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10 检测器 → ATT&amp;CK（扫描/C2/DNS隧道/外传/横向…）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3575304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实战新增 CC 轮询检测（CTU-13 零误报）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4288536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误报修复实录：utmcmd 1354→16 条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5001768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</a:rPr>
              <a:t>✓ filterlog：action/rule_id 进 detail</a:t>
            </a:r>
            <a:endParaRPr sz="13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1480" y="5852160"/>
            <a:ext cx="1706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>
            <a:no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多源输入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日志 </a:t>
            </a:r>
            <a:r>
              <a:rPr sz="1050" b="1">
                <a:solidFill>
                  <a:srgbClr val="0284C7"/>
                </a:solidFill>
                <a:latin typeface="微软雅黑"/>
                <a:ea typeface="微软雅黑"/>
              </a:rPr>
              <a:t>5</a:t>
            </a: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 类 · 流量 </a:t>
            </a:r>
            <a:r>
              <a:rPr sz="1050" b="1">
                <a:solidFill>
                  <a:srgbClr val="0284C7"/>
                </a:solidFill>
                <a:latin typeface="微软雅黑"/>
                <a:ea typeface="微软雅黑"/>
              </a:rPr>
              <a:t>4</a:t>
            </a: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 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18360" y="5852160"/>
            <a:ext cx="219456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7816" y="5852160"/>
            <a:ext cx="1706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>
            <a:no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格式自动探测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逐条容错 · 坏文件告警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4696" y="5852160"/>
            <a:ext cx="219456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4152" y="5852160"/>
            <a:ext cx="1706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>
            <a:no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标准化 Event V2</a:t>
            </a:r>
          </a:p>
          <a:p>
            <a:pPr algn="ctr"/>
            <a:r>
              <a:rPr sz="1050" b="1">
                <a:solidFill>
                  <a:srgbClr val="0284C7"/>
                </a:solidFill>
                <a:latin typeface="微软雅黑"/>
                <a:ea typeface="微软雅黑"/>
              </a:rPr>
              <a:t>31</a:t>
            </a: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 事件类型 · UTC+8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2" y="5852160"/>
            <a:ext cx="219456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0488" y="5852160"/>
            <a:ext cx="1706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>
            <a:no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登录会话重建</a:t>
            </a:r>
          </a:p>
          <a:p>
            <a:pPr algn="ctr"/>
            <a:r>
              <a:rPr sz="1050" b="1">
                <a:solidFill>
                  <a:srgbClr val="0284C7"/>
                </a:solidFill>
                <a:latin typeface="微软雅黑"/>
                <a:ea typeface="微软雅黑"/>
              </a:rPr>
              <a:t>4624↔4634</a:t>
            </a: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 · </a:t>
            </a:r>
            <a:r>
              <a:rPr sz="1050" b="1">
                <a:solidFill>
                  <a:srgbClr val="0284C7"/>
                </a:solidFill>
                <a:latin typeface="微软雅黑"/>
                <a:ea typeface="微软雅黑"/>
              </a:rPr>
              <a:t>48</a:t>
            </a: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 会话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7368" y="5852160"/>
            <a:ext cx="219456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6824" y="5852160"/>
            <a:ext cx="1706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>
            <a:no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异常预标记</a:t>
            </a:r>
          </a:p>
          <a:p>
            <a:pPr algn="ctr"/>
            <a:r>
              <a:rPr sz="1050" b="1">
                <a:solidFill>
                  <a:srgbClr val="0284C7"/>
                </a:solidFill>
                <a:latin typeface="微软雅黑"/>
                <a:ea typeface="微软雅黑"/>
              </a:rPr>
              <a:t>5</a:t>
            </a: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 规则 · 标记 </a:t>
            </a:r>
            <a:r>
              <a:rPr sz="1050" b="1">
                <a:solidFill>
                  <a:srgbClr val="0284C7"/>
                </a:solidFill>
                <a:latin typeface="微软雅黑"/>
                <a:ea typeface="微软雅黑"/>
              </a:rPr>
              <a:t>9</a:t>
            </a: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 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3704" y="5852160"/>
            <a:ext cx="219456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43160" y="5852160"/>
            <a:ext cx="1706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>
            <a:no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契约校验 → 交付 D</a:t>
            </a:r>
          </a:p>
          <a:p>
            <a:pPr algn="ctr"/>
            <a:r>
              <a:rPr sz="1050" b="1">
                <a:solidFill>
                  <a:srgbClr val="0284C7"/>
                </a:solidFill>
                <a:latin typeface="微软雅黑"/>
                <a:ea typeface="微软雅黑"/>
              </a:rPr>
              <a:t>47,195</a:t>
            </a: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 条 · </a:t>
            </a:r>
            <a:r>
              <a:rPr sz="1050" b="1">
                <a:solidFill>
                  <a:srgbClr val="0284C7"/>
                </a:solidFill>
                <a:latin typeface="微软雅黑"/>
                <a:ea typeface="微软雅黑"/>
              </a:rPr>
              <a:t>0</a:t>
            </a:r>
            <a:r>
              <a:rPr sz="1050" b="0">
                <a:solidFill>
                  <a:srgbClr val="64748B"/>
                </a:solidFill>
                <a:latin typeface="微软雅黑"/>
                <a:ea typeface="微软雅黑"/>
              </a:rPr>
              <a:t> 阻断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核心模块实现 · D 关联分析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题3 · 溯源分析系统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微软雅黑" panose="020B0503020204020204" charset="-122"/>
              </a:rPr>
              <a:t>AttackStep —— 12 字段结构化攻击步骤</a:t>
            </a:r>
            <a:endParaRPr sz="16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onsolas" panose="020B0609020204030204"/>
              </a:rPr>
              <a:t>stage · technique · src/dst 主机与 IP</a:t>
            </a:r>
            <a:endParaRPr sz="1300" b="0">
              <a:solidFill>
                <a:srgbClr val="64748B"/>
              </a:solidFill>
              <a:latin typeface="Consolas" panose="020B0609020204030204"/>
            </a:endParaRP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onsolas" panose="020B0609020204030204"/>
              </a:rPr>
              <a:t>时间戳 · 描述 · evidence_event_ids</a:t>
            </a:r>
            <a:endParaRPr sz="13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706"/>
                </a:solidFill>
                <a:latin typeface="微软雅黑" panose="020B0503020204020204" charset="-122"/>
              </a:rPr>
              <a:t>证据穿透：点击步骤直达原始事件</a:t>
            </a:r>
            <a:endParaRPr sz="14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393192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微软雅黑" panose="020B0503020204020204" charset="-122"/>
              </a:rPr>
              <a:t>攻击图 + 归因画像</a:t>
            </a:r>
            <a:endParaRPr sz="16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</a:rPr>
              <a:t>▸ 攻击图：节点=主机/攻击者/C2，边=动作</a:t>
            </a:r>
            <a:endParaRPr sz="13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</a:rPr>
              <a:t>▸ 攻击路径：BFS 提取主要链路</a:t>
            </a:r>
            <a:endParaRPr sz="13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</a:rPr>
              <a:t>▸ 归因：攻击者画像 / C2 基础设施 / TTP</a:t>
            </a:r>
            <a:endParaRPr sz="13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8076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微软雅黑" panose="020B0503020204020204" charset="-122"/>
              </a:rPr>
              <a:t>关联输出实测</a:t>
            </a:r>
            <a:endParaRPr sz="16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E293B"/>
                </a:solidFill>
                <a:latin typeface="微软雅黑" panose="020B0503020204020204" charset="-122"/>
              </a:rPr>
              <a:t>① e_case01 靶场（纯网络 720 条）</a:t>
            </a:r>
            <a:endParaRPr sz="145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7960" y="2560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→ 47 步攻击链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横向 T1021×26 · 初始访问 T1190×20 · C2×1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365760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E293B"/>
                </a:solidFill>
                <a:latin typeface="微软雅黑" panose="020B0503020204020204" charset="-122"/>
              </a:rPr>
              <a:t>② apt29 批次（主机侧 23,993 条）</a:t>
            </a:r>
            <a:endParaRPr sz="145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37960" y="411480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→ 1,129 步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提权 T1078 · 执行 T1059 · 收集 · 持久化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09360" y="525780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</a:rPr>
              <a:t>多源证据越全，链条越完整 ——</a:t>
            </a:r>
            <a:endParaRPr sz="1350" b="1">
              <a:solidFill>
                <a:srgbClr val="D97706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</a:rPr>
              <a:t>引擎 9 阶段 12 技术全量支撑</a:t>
            </a:r>
            <a:endParaRPr sz="135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622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endParaRPr sz="3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平台成果总览 · 硬数字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全部为实测值，可复现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题3 · 溯源分析系统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微软雅黑" panose="020B0503020204020204" charset="-122"/>
              </a:rPr>
              <a:t>203</a:t>
            </a:r>
            <a:endParaRPr sz="23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自动化测试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54680" y="14173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微软雅黑" panose="020B0503020204020204" charset="-122"/>
              </a:rPr>
              <a:t>10</a:t>
            </a:r>
            <a:endParaRPr sz="23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1840" y="198424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网络检测器→ATT&amp;CK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251460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微软雅黑" panose="020B0503020204020204" charset="-122"/>
              </a:rPr>
              <a:t>31</a:t>
            </a:r>
            <a:endParaRPr sz="23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0815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主机事件类型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54680" y="251460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60604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微软雅黑" panose="020B0503020204020204" charset="-122"/>
              </a:rPr>
              <a:t>9+12</a:t>
            </a:r>
            <a:endParaRPr sz="23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91840" y="30815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D 攻击阶段/技术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1480" y="361188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微软雅黑" panose="020B0503020204020204" charset="-122"/>
              </a:rPr>
              <a:t>9</a:t>
            </a:r>
            <a:endParaRPr sz="23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17880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靶场节点 · 3 网段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154680" y="361188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7033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微软雅黑" panose="020B0503020204020204" charset="-122"/>
              </a:rPr>
              <a:t>139,195</a:t>
            </a:r>
            <a:endParaRPr sz="23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91840" y="417880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CTU-13 会话入库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11480" y="4709159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00599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微软雅黑" panose="020B0503020204020204" charset="-122"/>
              </a:rPr>
              <a:t>720→47</a:t>
            </a:r>
            <a:endParaRPr sz="23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527608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e_case01→攻击步骤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154680" y="4709159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4800599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微软雅黑" panose="020B0503020204020204" charset="-122"/>
              </a:rPr>
              <a:t>47,195</a:t>
            </a:r>
            <a:endParaRPr sz="23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91840" y="527608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B 侧事件过契约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pic>
        <p:nvPicPr>
          <p:cNvPr id="32" name="Picture 31" descr="shot_dataman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760720" cy="324040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35040" y="4709160"/>
            <a:ext cx="5760720" cy="338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</a:rPr>
              <a:t>数据管理页：多文件拖拽上传 · 批次管理 · 一键触发分析</a:t>
            </a:r>
            <a:endParaRPr sz="1400"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11480" y="5870448"/>
            <a:ext cx="5440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980176"/>
            <a:ext cx="5120640" cy="586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</a:rPr>
              <a:t>平台批次：apt29 23,993 · e_case01 720 · demo 96</a:t>
            </a:r>
            <a:endParaRPr sz="14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</a:rPr>
              <a:t>交付 D：apt29_day1 667 · ctu13_s2 1,215</a:t>
            </a:r>
            <a:endParaRPr sz="14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622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000" b="1">
                <a:solidFill>
                  <a:srgbClr val="0284C7"/>
                </a:solidFill>
                <a:latin typeface="微软雅黑" panose="020B0503020204020204" charset="-122"/>
              </a:rPr>
              <a:t>04</a:t>
            </a:r>
            <a:endParaRPr lang="en-US" sz="3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开源对比与创新性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8 个同类项目对比 · 详见 docs/开源项目对比与自研系统创新性分析.md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题3 · 溯源分析系统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6675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6217920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284C7"/>
                </a:solidFill>
                <a:latin typeface="微软雅黑" panose="020B0503020204020204" charset="-122"/>
              </a:rPr>
              <a:t>同类项目 vs 本项目</a:t>
            </a:r>
            <a:endParaRPr sz="2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630936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Wazuh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：主机 SIEM，无流量解析与攻击图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630936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Security Onion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：全家桶，部署重不适合课程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191256"/>
            <a:ext cx="630936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Arkime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：偏存储检索，无溯源链生成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758184"/>
            <a:ext cx="630936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Sigma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：仅规则格式，无关联展示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630936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OpenCTI / MISP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：情报共享，不解析原始日志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630936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Timesketch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：时间线协作，无自动 ATT&amp;CK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458968"/>
            <a:ext cx="630936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Zeek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：事实标准，本项目作解析输入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4480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508760"/>
            <a:ext cx="4023360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284C7"/>
                </a:solidFill>
                <a:latin typeface="微软雅黑" panose="020B0503020204020204" charset="-122"/>
              </a:rPr>
              <a:t>三条创新点</a:t>
            </a:r>
            <a:endParaRPr sz="2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43800" y="2057400"/>
            <a:ext cx="4023360" cy="40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</a:rPr>
              <a:t>① 端到端闭环</a:t>
            </a:r>
            <a:endParaRPr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26679" y="2441448"/>
            <a:ext cx="3840480" cy="656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原始日志 → 契约 → 攻击链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→ 证据回查 → 归因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43800" y="3474720"/>
            <a:ext cx="4023360" cy="40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</a:rPr>
              <a:t>② 契约协作</a:t>
            </a:r>
            <a:endParaRPr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26679" y="3858768"/>
            <a:ext cx="3840480" cy="656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三层守卫 + 批次隔离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6 人并行 0 次字段打架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43800" y="4892040"/>
            <a:ext cx="4023360" cy="40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</a:rPr>
              <a:t>③ 双重实证</a:t>
            </a:r>
            <a:endParaRPr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26679" y="5276088"/>
            <a:ext cx="3840480" cy="656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靶场完整入侵链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+ 公开数据集定量验证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总结与展望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029200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284C7"/>
                </a:solidFill>
                <a:latin typeface="微软雅黑" panose="020B0503020204020204" charset="-122"/>
              </a:rPr>
              <a:t>已完成</a:t>
            </a:r>
            <a:endParaRPr sz="20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✓ 多源采集融合 → Event V2 统一契约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679192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✓ B 31 类型 · C 10 检测器 · D 9 阶段关联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300984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</a:rPr>
              <a:t>✓ 9 节点靶场完整入侵链实测</a:t>
            </a:r>
            <a:endParaRPr sz="1600" b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✓ CTU-13 + APT29 定量验证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544568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✓ 前端 5 页面 + LLM 报告 + Electron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029200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D97706"/>
                </a:solidFill>
                <a:latin typeface="微软雅黑" panose="020B0503020204020204" charset="-122"/>
              </a:rPr>
              <a:t>局限与下一步</a:t>
            </a:r>
            <a:endParaRPr sz="20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主机侧深挖：内存注入 / 反射加载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2679192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隐蔽信道：HTTP 隧道建模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3300984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LLM 升级多智能体协作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3922776"/>
            <a:ext cx="512064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293B"/>
                </a:solidFill>
                <a:latin typeface="微软雅黑" panose="020B0503020204020204" charset="-122"/>
              </a:rPr>
              <a:t>▸ 打包分发：PyInstaller + electron-builder</a:t>
            </a:r>
            <a:endParaRPr sz="16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" y="5760720"/>
            <a:ext cx="1124712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微软雅黑" panose="020B0503020204020204" charset="-122"/>
              </a:rPr>
              <a:t>统一契约 + 多源解析 + ATT&amp;CK 关联 + 证据穿透，把一次真实入侵变成可回查、可量化的完整溯源故事。</a:t>
            </a:r>
            <a:endParaRPr sz="1600" b="1">
              <a:solidFill>
                <a:srgbClr val="0284C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046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1E293B"/>
                </a:solidFill>
                <a:latin typeface="微软雅黑" panose="020B0503020204020204" charset="-122"/>
              </a:rPr>
              <a:t>谢谢观看 </a:t>
            </a:r>
            <a:endParaRPr sz="54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40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  <a:latin typeface="微软雅黑" panose="020B0503020204020204" charset="-122"/>
              </a:rPr>
              <a:t>恶意攻击行为溯源分析系统 · 网络空间安全课程设计 </a:t>
            </a:r>
            <a:endParaRPr sz="18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0.27,&quot;left&quot;:258.35,&quot;top&quot;:138.2,&quot;width&quot;:422.3}"/>
</p:tagLst>
</file>

<file path=ppt/tags/tag2.xml><?xml version="1.0" encoding="utf-8"?>
<p:tagLst xmlns:p="http://schemas.openxmlformats.org/presentationml/2006/main">
  <p:tag name="KSO_WM_DIAGRAM_VIRTUALLY_FRAME" val="{&quot;height&quot;:310.27,&quot;left&quot;:258.35,&quot;top&quot;:138.2,&quot;width&quot;:422.3}"/>
</p:tagLst>
</file>

<file path=ppt/tags/tag3.xml><?xml version="1.0" encoding="utf-8"?>
<p:tagLst xmlns:p="http://schemas.openxmlformats.org/presentationml/2006/main">
  <p:tag name="KSO_WM_DIAGRAM_VIRTUALLY_FRAME" val="{&quot;height&quot;:310.27,&quot;left&quot;:258.35,&quot;top&quot;:138.2,&quot;width&quot;:422.3}"/>
</p:tagLst>
</file>

<file path=ppt/tags/tag4.xml><?xml version="1.0" encoding="utf-8"?>
<p:tagLst xmlns:p="http://schemas.openxmlformats.org/presentationml/2006/main">
  <p:tag name="KSO_WM_DIAGRAM_VIRTUALLY_FRAME" val="{&quot;height&quot;:310.27,&quot;left&quot;:258.35,&quot;top&quot;:138.2,&quot;width&quot;:422.3}"/>
</p:tagLst>
</file>

<file path=ppt/tags/tag5.xml><?xml version="1.0" encoding="utf-8"?>
<p:tagLst xmlns:p="http://schemas.openxmlformats.org/presentationml/2006/main">
  <p:tag name="KSO_WM_DIAGRAM_VIRTUALLY_FRAME" val="{&quot;height&quot;:310.27,&quot;left&quot;:258.35,&quot;top&quot;:138.2,&quot;width&quot;:422.3}"/>
</p:tagLst>
</file>

<file path=ppt/tags/tag6.xml><?xml version="1.0" encoding="utf-8"?>
<p:tagLst xmlns:p="http://schemas.openxmlformats.org/presentationml/2006/main">
  <p:tag name="KSO_WM_DIAGRAM_VIRTUALLY_FRAME" val="{&quot;height&quot;:310.27,&quot;left&quot;:258.35,&quot;top&quot;:138.2,&quot;width&quot;:422.3}"/>
</p:tagLst>
</file>

<file path=ppt/tags/tag7.xml><?xml version="1.0" encoding="utf-8"?>
<p:tagLst xmlns:p="http://schemas.openxmlformats.org/presentationml/2006/main">
  <p:tag name="KSO_WM_DIAGRAM_VIRTUALLY_FRAME" val="{&quot;height&quot;:310.27,&quot;left&quot;:258.35,&quot;top&quot;:138.2,&quot;width&quot;:422.3}"/>
</p:tagLst>
</file>

<file path=ppt/tags/tag8.xml><?xml version="1.0" encoding="utf-8"?>
<p:tagLst xmlns:p="http://schemas.openxmlformats.org/presentationml/2006/main">
  <p:tag name="KSO_WM_DIAGRAM_VIRTUALLY_FRAME" val="{&quot;height&quot;:310.27,&quot;left&quot;:258.35,&quot;top&quot;:138.2,&quot;width&quot;:422.3}"/>
</p:tagLst>
</file>

<file path=ppt/tags/tag9.xml><?xml version="1.0" encoding="utf-8"?>
<p:tagLst xmlns:p="http://schemas.openxmlformats.org/presentationml/2006/main">
  <p:tag name="KSO_WM_DIAGRAM_VIRTUALLY_FRAME" val="{&quot;height&quot;:376.05,&quot;left&quot;:38.89999999999998,&quot;top&quot;:68.9,&quot;width&quot;:894.96}"/>
</p:tagLst>
</file>

<file path=ppt/tags/tag10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11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12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13.xml><?xml version="1.0" encoding="utf-8"?>
<p:tagLst xmlns:p="http://schemas.openxmlformats.org/presentationml/2006/main">
  <p:tag name="KSO_WM_DIAGRAM_VIRTUALLY_FRAME" val="{&quot;height&quot;:376.05,&quot;left&quot;:38.89999999999998,&quot;top&quot;:68.9,&quot;width&quot;:894.96}"/>
</p:tagLst>
</file>

<file path=ppt/tags/tag14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15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16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17.xml><?xml version="1.0" encoding="utf-8"?>
<p:tagLst xmlns:p="http://schemas.openxmlformats.org/presentationml/2006/main">
  <p:tag name="KSO_WM_DIAGRAM_VIRTUALLY_FRAME" val="{&quot;height&quot;:376.05,&quot;left&quot;:38.89999999999998,&quot;top&quot;:68.9,&quot;width&quot;:894.96}"/>
</p:tagLst>
</file>

<file path=ppt/tags/tag18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19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20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21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22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23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24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25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ags/tag26.xml><?xml version="1.0" encoding="utf-8"?>
<p:tagLst xmlns:p="http://schemas.openxmlformats.org/presentationml/2006/main">
  <p:tag name="KSO_WM_DIAGRAM_VIRTUALLY_FRAME" val="{&quot;height&quot;:382.4,&quot;left&quot;:38.89999999999998,&quot;top&quot;:68.9,&quot;width&quot;:894.9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3523</Words>
  <Application>WPS 演示</Application>
  <PresentationFormat>On-screen Show (4:3)</PresentationFormat>
  <Paragraphs>375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梦若幽云</cp:lastModifiedBy>
  <cp:revision>8</cp:revision>
  <dcterms:created xsi:type="dcterms:W3CDTF">2013-01-27T09:14:00Z</dcterms:created>
  <dcterms:modified xsi:type="dcterms:W3CDTF">2026-09-11T05:43:48Z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863AD21DE1624B52BFF1315EFEEDECE1_12</vt:lpwstr>
  </property>
</Properties>
</file>